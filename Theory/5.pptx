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0" r:id="rId2"/>
    <p:sldId id="304" r:id="rId3"/>
    <p:sldId id="30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1" r:id="rId12"/>
    <p:sldId id="302" r:id="rId13"/>
    <p:sldId id="303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7" r:id="rId25"/>
    <p:sldId id="279" r:id="rId26"/>
    <p:sldId id="280" r:id="rId27"/>
    <p:sldId id="281" r:id="rId28"/>
    <p:sldId id="282" r:id="rId29"/>
    <p:sldId id="306" r:id="rId30"/>
    <p:sldId id="307" r:id="rId31"/>
    <p:sldId id="283" r:id="rId32"/>
    <p:sldId id="284" r:id="rId33"/>
    <p:sldId id="309" r:id="rId34"/>
    <p:sldId id="285" r:id="rId35"/>
    <p:sldId id="308" r:id="rId36"/>
    <p:sldId id="286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54DD83-82AA-D0FD-748F-00E5D26B4DF0}" v="283" dt="2025-10-15T04:22:34.3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FFFA3AB9-EFDC-7C95-8229-CEFDCE02193E}"/>
    <pc:docChg chg="modSld">
      <pc:chgData name="saraths" userId="S::saraths@am.amrita.edu::244d0ad9-751b-45dc-a37d-eb545e66f5d8" providerId="AD" clId="Web-{FFFA3AB9-EFDC-7C95-8229-CEFDCE02193E}" dt="2025-10-08T08:29:46.720" v="8" actId="1076"/>
      <pc:docMkLst>
        <pc:docMk/>
      </pc:docMkLst>
      <pc:sldChg chg="modSp">
        <pc:chgData name="saraths" userId="S::saraths@am.amrita.edu::244d0ad9-751b-45dc-a37d-eb545e66f5d8" providerId="AD" clId="Web-{FFFA3AB9-EFDC-7C95-8229-CEFDCE02193E}" dt="2025-10-08T08:29:46.720" v="8" actId="1076"/>
        <pc:sldMkLst>
          <pc:docMk/>
          <pc:sldMk cId="0" sldId="258"/>
        </pc:sldMkLst>
        <pc:spChg chg="mod">
          <ac:chgData name="saraths" userId="S::saraths@am.amrita.edu::244d0ad9-751b-45dc-a37d-eb545e66f5d8" providerId="AD" clId="Web-{FFFA3AB9-EFDC-7C95-8229-CEFDCE02193E}" dt="2025-10-08T08:29:46.720" v="8" actId="1076"/>
          <ac:spMkLst>
            <pc:docMk/>
            <pc:sldMk cId="0" sldId="258"/>
            <ac:spMk id="5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FFFA3AB9-EFDC-7C95-8229-CEFDCE02193E}" dt="2025-10-08T08:25:21.433" v="1" actId="14100"/>
        <pc:sldMkLst>
          <pc:docMk/>
          <pc:sldMk cId="395106911" sldId="304"/>
        </pc:sldMkLst>
        <pc:picChg chg="mod">
          <ac:chgData name="saraths" userId="S::saraths@am.amrita.edu::244d0ad9-751b-45dc-a37d-eb545e66f5d8" providerId="AD" clId="Web-{FFFA3AB9-EFDC-7C95-8229-CEFDCE02193E}" dt="2025-10-08T08:25:21.433" v="1" actId="14100"/>
          <ac:picMkLst>
            <pc:docMk/>
            <pc:sldMk cId="395106911" sldId="304"/>
            <ac:picMk id="5" creationId="{841419B4-DC26-611D-E507-337FE3D7E910}"/>
          </ac:picMkLst>
        </pc:picChg>
      </pc:sldChg>
      <pc:sldChg chg="modSp">
        <pc:chgData name="saraths" userId="S::saraths@am.amrita.edu::244d0ad9-751b-45dc-a37d-eb545e66f5d8" providerId="AD" clId="Web-{FFFA3AB9-EFDC-7C95-8229-CEFDCE02193E}" dt="2025-10-08T08:27:30.324" v="2" actId="1076"/>
        <pc:sldMkLst>
          <pc:docMk/>
          <pc:sldMk cId="1553612491" sldId="305"/>
        </pc:sldMkLst>
        <pc:picChg chg="mod">
          <ac:chgData name="saraths" userId="S::saraths@am.amrita.edu::244d0ad9-751b-45dc-a37d-eb545e66f5d8" providerId="AD" clId="Web-{FFFA3AB9-EFDC-7C95-8229-CEFDCE02193E}" dt="2025-10-08T08:27:30.324" v="2" actId="1076"/>
          <ac:picMkLst>
            <pc:docMk/>
            <pc:sldMk cId="1553612491" sldId="305"/>
            <ac:picMk id="5" creationId="{A3C4639E-D1BC-EF2C-6553-D0A7F285030A}"/>
          </ac:picMkLst>
        </pc:picChg>
      </pc:sldChg>
    </pc:docChg>
  </pc:docChgLst>
  <pc:docChgLst>
    <pc:chgData name="saraths" userId="S::saraths@am.amrita.edu::244d0ad9-751b-45dc-a37d-eb545e66f5d8" providerId="AD" clId="Web-{8954DD83-82AA-D0FD-748F-00E5D26B4DF0}"/>
    <pc:docChg chg="addSld delSld modSld sldOrd">
      <pc:chgData name="saraths" userId="S::saraths@am.amrita.edu::244d0ad9-751b-45dc-a37d-eb545e66f5d8" providerId="AD" clId="Web-{8954DD83-82AA-D0FD-748F-00E5D26B4DF0}" dt="2025-10-15T04:22:34.388" v="148"/>
      <pc:docMkLst>
        <pc:docMk/>
      </pc:docMkLst>
      <pc:sldChg chg="modSp">
        <pc:chgData name="saraths" userId="S::saraths@am.amrita.edu::244d0ad9-751b-45dc-a37d-eb545e66f5d8" providerId="AD" clId="Web-{8954DD83-82AA-D0FD-748F-00E5D26B4DF0}" dt="2025-10-15T03:33:50.132" v="6" actId="20577"/>
        <pc:sldMkLst>
          <pc:docMk/>
          <pc:sldMk cId="0" sldId="277"/>
        </pc:sldMkLst>
        <pc:spChg chg="mod">
          <ac:chgData name="saraths" userId="S::saraths@am.amrita.edu::244d0ad9-751b-45dc-a37d-eb545e66f5d8" providerId="AD" clId="Web-{8954DD83-82AA-D0FD-748F-00E5D26B4DF0}" dt="2025-10-15T03:33:50.132" v="6" actId="20577"/>
          <ac:spMkLst>
            <pc:docMk/>
            <pc:sldMk cId="0" sldId="277"/>
            <ac:spMk id="23" creationId="{00000000-0000-0000-0000-000000000000}"/>
          </ac:spMkLst>
        </pc:spChg>
      </pc:sldChg>
      <pc:sldChg chg="addSp delSp modSp">
        <pc:chgData name="saraths" userId="S::saraths@am.amrita.edu::244d0ad9-751b-45dc-a37d-eb545e66f5d8" providerId="AD" clId="Web-{8954DD83-82AA-D0FD-748F-00E5D26B4DF0}" dt="2025-10-15T03:46:36.443" v="49" actId="1076"/>
        <pc:sldMkLst>
          <pc:docMk/>
          <pc:sldMk cId="0" sldId="282"/>
        </pc:sldMkLst>
        <pc:spChg chg="del">
          <ac:chgData name="saraths" userId="S::saraths@am.amrita.edu::244d0ad9-751b-45dc-a37d-eb545e66f5d8" providerId="AD" clId="Web-{8954DD83-82AA-D0FD-748F-00E5D26B4DF0}" dt="2025-10-15T03:42:25.536" v="11"/>
          <ac:spMkLst>
            <pc:docMk/>
            <pc:sldMk cId="0" sldId="282"/>
            <ac:spMk id="2" creationId="{00000000-0000-0000-0000-000000000000}"/>
          </ac:spMkLst>
        </pc:spChg>
        <pc:spChg chg="del mod">
          <ac:chgData name="saraths" userId="S::saraths@am.amrita.edu::244d0ad9-751b-45dc-a37d-eb545e66f5d8" providerId="AD" clId="Web-{8954DD83-82AA-D0FD-748F-00E5D26B4DF0}" dt="2025-10-15T03:42:34.145" v="16"/>
          <ac:spMkLst>
            <pc:docMk/>
            <pc:sldMk cId="0" sldId="282"/>
            <ac:spMk id="3" creationId="{00000000-0000-0000-0000-000000000000}"/>
          </ac:spMkLst>
        </pc:spChg>
        <pc:spChg chg="del mod">
          <ac:chgData name="saraths" userId="S::saraths@am.amrita.edu::244d0ad9-751b-45dc-a37d-eb545e66f5d8" providerId="AD" clId="Web-{8954DD83-82AA-D0FD-748F-00E5D26B4DF0}" dt="2025-10-15T03:42:36.270" v="17"/>
          <ac:spMkLst>
            <pc:docMk/>
            <pc:sldMk cId="0" sldId="282"/>
            <ac:spMk id="4" creationId="{00000000-0000-0000-0000-000000000000}"/>
          </ac:spMkLst>
        </pc:spChg>
        <pc:spChg chg="del">
          <ac:chgData name="saraths" userId="S::saraths@am.amrita.edu::244d0ad9-751b-45dc-a37d-eb545e66f5d8" providerId="AD" clId="Web-{8954DD83-82AA-D0FD-748F-00E5D26B4DF0}" dt="2025-10-15T03:42:29.411" v="13"/>
          <ac:spMkLst>
            <pc:docMk/>
            <pc:sldMk cId="0" sldId="282"/>
            <ac:spMk id="5" creationId="{00000000-0000-0000-0000-000000000000}"/>
          </ac:spMkLst>
        </pc:spChg>
        <pc:spChg chg="del">
          <ac:chgData name="saraths" userId="S::saraths@am.amrita.edu::244d0ad9-751b-45dc-a37d-eb545e66f5d8" providerId="AD" clId="Web-{8954DD83-82AA-D0FD-748F-00E5D26B4DF0}" dt="2025-10-15T03:42:27.473" v="12"/>
          <ac:spMkLst>
            <pc:docMk/>
            <pc:sldMk cId="0" sldId="282"/>
            <ac:spMk id="6" creationId="{00000000-0000-0000-0000-000000000000}"/>
          </ac:spMkLst>
        </pc:spChg>
        <pc:spChg chg="del">
          <ac:chgData name="saraths" userId="S::saraths@am.amrita.edu::244d0ad9-751b-45dc-a37d-eb545e66f5d8" providerId="AD" clId="Web-{8954DD83-82AA-D0FD-748F-00E5D26B4DF0}" dt="2025-10-15T03:42:38.255" v="18"/>
          <ac:spMkLst>
            <pc:docMk/>
            <pc:sldMk cId="0" sldId="282"/>
            <ac:spMk id="7" creationId="{00000000-0000-0000-0000-000000000000}"/>
          </ac:spMkLst>
        </pc:spChg>
        <pc:spChg chg="del">
          <ac:chgData name="saraths" userId="S::saraths@am.amrita.edu::244d0ad9-751b-45dc-a37d-eb545e66f5d8" providerId="AD" clId="Web-{8954DD83-82AA-D0FD-748F-00E5D26B4DF0}" dt="2025-10-15T03:42:40.020" v="19"/>
          <ac:spMkLst>
            <pc:docMk/>
            <pc:sldMk cId="0" sldId="282"/>
            <ac:spMk id="8" creationId="{00000000-0000-0000-0000-000000000000}"/>
          </ac:spMkLst>
        </pc:spChg>
        <pc:spChg chg="mod">
          <ac:chgData name="saraths" userId="S::saraths@am.amrita.edu::244d0ad9-751b-45dc-a37d-eb545e66f5d8" providerId="AD" clId="Web-{8954DD83-82AA-D0FD-748F-00E5D26B4DF0}" dt="2025-10-15T03:46:32.114" v="48" actId="1076"/>
          <ac:spMkLst>
            <pc:docMk/>
            <pc:sldMk cId="0" sldId="282"/>
            <ac:spMk id="11" creationId="{00000000-0000-0000-0000-000000000000}"/>
          </ac:spMkLst>
        </pc:spChg>
        <pc:graphicFrameChg chg="add del mod modGraphic">
          <ac:chgData name="saraths" userId="S::saraths@am.amrita.edu::244d0ad9-751b-45dc-a37d-eb545e66f5d8" providerId="AD" clId="Web-{8954DD83-82AA-D0FD-748F-00E5D26B4DF0}" dt="2025-10-15T03:42:48.645" v="21"/>
          <ac:graphicFrameMkLst>
            <pc:docMk/>
            <pc:sldMk cId="0" sldId="282"/>
            <ac:graphicFrameMk id="13" creationId="{22360952-70A2-C060-881F-99D3B4986E3C}"/>
          </ac:graphicFrameMkLst>
        </pc:graphicFrameChg>
        <pc:picChg chg="del">
          <ac:chgData name="saraths" userId="S::saraths@am.amrita.edu::244d0ad9-751b-45dc-a37d-eb545e66f5d8" providerId="AD" clId="Web-{8954DD83-82AA-D0FD-748F-00E5D26B4DF0}" dt="2025-10-15T03:41:41.239" v="7"/>
          <ac:picMkLst>
            <pc:docMk/>
            <pc:sldMk cId="0" sldId="282"/>
            <ac:picMk id="10" creationId="{00000000-0000-0000-0000-000000000000}"/>
          </ac:picMkLst>
        </pc:picChg>
        <pc:picChg chg="add mod">
          <ac:chgData name="saraths" userId="S::saraths@am.amrita.edu::244d0ad9-751b-45dc-a37d-eb545e66f5d8" providerId="AD" clId="Web-{8954DD83-82AA-D0FD-748F-00E5D26B4DF0}" dt="2025-10-15T03:46:36.443" v="49" actId="1076"/>
          <ac:picMkLst>
            <pc:docMk/>
            <pc:sldMk cId="0" sldId="282"/>
            <ac:picMk id="14" creationId="{8405ACDF-DE71-8876-C013-7F40F75E61FB}"/>
          </ac:picMkLst>
        </pc:picChg>
      </pc:sldChg>
      <pc:sldChg chg="addSp modSp ord">
        <pc:chgData name="saraths" userId="S::saraths@am.amrita.edu::244d0ad9-751b-45dc-a37d-eb545e66f5d8" providerId="AD" clId="Web-{8954DD83-82AA-D0FD-748F-00E5D26B4DF0}" dt="2025-10-15T04:22:24.279" v="147"/>
        <pc:sldMkLst>
          <pc:docMk/>
          <pc:sldMk cId="0" sldId="285"/>
        </pc:sldMkLst>
        <pc:spChg chg="mod">
          <ac:chgData name="saraths" userId="S::saraths@am.amrita.edu::244d0ad9-751b-45dc-a37d-eb545e66f5d8" providerId="AD" clId="Web-{8954DD83-82AA-D0FD-748F-00E5D26B4DF0}" dt="2025-10-15T03:56:44.171" v="88" actId="107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saraths" userId="S::saraths@am.amrita.edu::244d0ad9-751b-45dc-a37d-eb545e66f5d8" providerId="AD" clId="Web-{8954DD83-82AA-D0FD-748F-00E5D26B4DF0}" dt="2025-10-15T03:56:51.702" v="90" actId="107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saraths" userId="S::saraths@am.amrita.edu::244d0ad9-751b-45dc-a37d-eb545e66f5d8" providerId="AD" clId="Web-{8954DD83-82AA-D0FD-748F-00E5D26B4DF0}" dt="2025-10-15T03:56:57.093" v="91" actId="1076"/>
          <ac:spMkLst>
            <pc:docMk/>
            <pc:sldMk cId="0" sldId="285"/>
            <ac:spMk id="12" creationId="{00000000-0000-0000-0000-000000000000}"/>
          </ac:spMkLst>
        </pc:spChg>
        <pc:spChg chg="add mod">
          <ac:chgData name="saraths" userId="S::saraths@am.amrita.edu::244d0ad9-751b-45dc-a37d-eb545e66f5d8" providerId="AD" clId="Web-{8954DD83-82AA-D0FD-748F-00E5D26B4DF0}" dt="2025-10-15T03:56:46.827" v="89" actId="1076"/>
          <ac:spMkLst>
            <pc:docMk/>
            <pc:sldMk cId="0" sldId="285"/>
            <ac:spMk id="15" creationId="{DF522127-898B-EAA3-2026-F7B690773B51}"/>
          </ac:spMkLst>
        </pc:spChg>
        <pc:spChg chg="add mod">
          <ac:chgData name="saraths" userId="S::saraths@am.amrita.edu::244d0ad9-751b-45dc-a37d-eb545e66f5d8" providerId="AD" clId="Web-{8954DD83-82AA-D0FD-748F-00E5D26B4DF0}" dt="2025-10-15T03:57:07.202" v="95"/>
          <ac:spMkLst>
            <pc:docMk/>
            <pc:sldMk cId="0" sldId="285"/>
            <ac:spMk id="16" creationId="{D8556C05-CBDF-19B1-B910-F449A218978B}"/>
          </ac:spMkLst>
        </pc:spChg>
        <pc:spChg chg="add mod">
          <ac:chgData name="saraths" userId="S::saraths@am.amrita.edu::244d0ad9-751b-45dc-a37d-eb545e66f5d8" providerId="AD" clId="Web-{8954DD83-82AA-D0FD-748F-00E5D26B4DF0}" dt="2025-10-15T04:11:31.774" v="101" actId="1076"/>
          <ac:spMkLst>
            <pc:docMk/>
            <pc:sldMk cId="0" sldId="285"/>
            <ac:spMk id="17" creationId="{36747800-8ECD-AA3A-7183-472D11C76E94}"/>
          </ac:spMkLst>
        </pc:spChg>
      </pc:sldChg>
      <pc:sldChg chg="del">
        <pc:chgData name="saraths" userId="S::saraths@am.amrita.edu::244d0ad9-751b-45dc-a37d-eb545e66f5d8" providerId="AD" clId="Web-{8954DD83-82AA-D0FD-748F-00E5D26B4DF0}" dt="2025-10-15T04:17:00.795" v="128"/>
        <pc:sldMkLst>
          <pc:docMk/>
          <pc:sldMk cId="0" sldId="287"/>
        </pc:sldMkLst>
      </pc:sldChg>
      <pc:sldChg chg="del">
        <pc:chgData name="saraths" userId="S::saraths@am.amrita.edu::244d0ad9-751b-45dc-a37d-eb545e66f5d8" providerId="AD" clId="Web-{8954DD83-82AA-D0FD-748F-00E5D26B4DF0}" dt="2025-10-15T04:17:03.046" v="129"/>
        <pc:sldMkLst>
          <pc:docMk/>
          <pc:sldMk cId="0" sldId="288"/>
        </pc:sldMkLst>
      </pc:sldChg>
      <pc:sldChg chg="addSp delSp modSp new">
        <pc:chgData name="saraths" userId="S::saraths@am.amrita.edu::244d0ad9-751b-45dc-a37d-eb545e66f5d8" providerId="AD" clId="Web-{8954DD83-82AA-D0FD-748F-00E5D26B4DF0}" dt="2025-10-15T03:44:48.958" v="40" actId="1076"/>
        <pc:sldMkLst>
          <pc:docMk/>
          <pc:sldMk cId="3751634034" sldId="306"/>
        </pc:sldMkLst>
        <pc:spChg chg="del">
          <ac:chgData name="saraths" userId="S::saraths@am.amrita.edu::244d0ad9-751b-45dc-a37d-eb545e66f5d8" providerId="AD" clId="Web-{8954DD83-82AA-D0FD-748F-00E5D26B4DF0}" dt="2025-10-15T03:44:35.755" v="35"/>
          <ac:spMkLst>
            <pc:docMk/>
            <pc:sldMk cId="3751634034" sldId="306"/>
            <ac:spMk id="2" creationId="{EDA268EE-29D5-8374-946F-821B214AF441}"/>
          </ac:spMkLst>
        </pc:spChg>
        <pc:spChg chg="del mod">
          <ac:chgData name="saraths" userId="S::saraths@am.amrita.edu::244d0ad9-751b-45dc-a37d-eb545e66f5d8" providerId="AD" clId="Web-{8954DD83-82AA-D0FD-748F-00E5D26B4DF0}" dt="2025-10-15T03:44:26.442" v="34"/>
          <ac:spMkLst>
            <pc:docMk/>
            <pc:sldMk cId="3751634034" sldId="306"/>
            <ac:spMk id="3" creationId="{5705A9BC-4DB7-C821-4BF4-3481916D507C}"/>
          </ac:spMkLst>
        </pc:spChg>
        <pc:picChg chg="add mod">
          <ac:chgData name="saraths" userId="S::saraths@am.amrita.edu::244d0ad9-751b-45dc-a37d-eb545e66f5d8" providerId="AD" clId="Web-{8954DD83-82AA-D0FD-748F-00E5D26B4DF0}" dt="2025-10-15T03:44:48.958" v="40" actId="1076"/>
          <ac:picMkLst>
            <pc:docMk/>
            <pc:sldMk cId="3751634034" sldId="306"/>
            <ac:picMk id="4" creationId="{60FCDB64-2A5B-B9D4-9E75-EB4CDFE7C201}"/>
          </ac:picMkLst>
        </pc:picChg>
      </pc:sldChg>
      <pc:sldChg chg="addSp delSp modSp new">
        <pc:chgData name="saraths" userId="S::saraths@am.amrita.edu::244d0ad9-751b-45dc-a37d-eb545e66f5d8" providerId="AD" clId="Web-{8954DD83-82AA-D0FD-748F-00E5D26B4DF0}" dt="2025-10-15T03:45:55.005" v="47" actId="1076"/>
        <pc:sldMkLst>
          <pc:docMk/>
          <pc:sldMk cId="2907775734" sldId="307"/>
        </pc:sldMkLst>
        <pc:spChg chg="del">
          <ac:chgData name="saraths" userId="S::saraths@am.amrita.edu::244d0ad9-751b-45dc-a37d-eb545e66f5d8" providerId="AD" clId="Web-{8954DD83-82AA-D0FD-748F-00E5D26B4DF0}" dt="2025-10-15T03:45:04.458" v="43"/>
          <ac:spMkLst>
            <pc:docMk/>
            <pc:sldMk cId="2907775734" sldId="307"/>
            <ac:spMk id="2" creationId="{1D87A75D-E3FC-91FF-FC0A-6BA9EA1C243C}"/>
          </ac:spMkLst>
        </pc:spChg>
        <pc:spChg chg="del">
          <ac:chgData name="saraths" userId="S::saraths@am.amrita.edu::244d0ad9-751b-45dc-a37d-eb545e66f5d8" providerId="AD" clId="Web-{8954DD83-82AA-D0FD-748F-00E5D26B4DF0}" dt="2025-10-15T03:45:00.208" v="42"/>
          <ac:spMkLst>
            <pc:docMk/>
            <pc:sldMk cId="2907775734" sldId="307"/>
            <ac:spMk id="3" creationId="{E40A662B-AB35-1673-D307-EF6FB48B5049}"/>
          </ac:spMkLst>
        </pc:spChg>
        <pc:picChg chg="add mod">
          <ac:chgData name="saraths" userId="S::saraths@am.amrita.edu::244d0ad9-751b-45dc-a37d-eb545e66f5d8" providerId="AD" clId="Web-{8954DD83-82AA-D0FD-748F-00E5D26B4DF0}" dt="2025-10-15T03:45:55.005" v="47" actId="1076"/>
          <ac:picMkLst>
            <pc:docMk/>
            <pc:sldMk cId="2907775734" sldId="307"/>
            <ac:picMk id="4" creationId="{697EBAA4-AAFD-2DEC-DA2F-349919CAE447}"/>
          </ac:picMkLst>
        </pc:picChg>
      </pc:sldChg>
      <pc:sldChg chg="addSp delSp modSp new ord">
        <pc:chgData name="saraths" userId="S::saraths@am.amrita.edu::244d0ad9-751b-45dc-a37d-eb545e66f5d8" providerId="AD" clId="Web-{8954DD83-82AA-D0FD-748F-00E5D26B4DF0}" dt="2025-10-15T04:22:09.747" v="145"/>
        <pc:sldMkLst>
          <pc:docMk/>
          <pc:sldMk cId="2688933458" sldId="308"/>
        </pc:sldMkLst>
        <pc:spChg chg="mod">
          <ac:chgData name="saraths" userId="S::saraths@am.amrita.edu::244d0ad9-751b-45dc-a37d-eb545e66f5d8" providerId="AD" clId="Web-{8954DD83-82AA-D0FD-748F-00E5D26B4DF0}" dt="2025-10-15T04:15:35.197" v="124" actId="14100"/>
          <ac:spMkLst>
            <pc:docMk/>
            <pc:sldMk cId="2688933458" sldId="308"/>
            <ac:spMk id="2" creationId="{64BEDAC7-EF1A-BD10-6651-2DF76FAA7D4C}"/>
          </ac:spMkLst>
        </pc:spChg>
        <pc:spChg chg="del">
          <ac:chgData name="saraths" userId="S::saraths@am.amrita.edu::244d0ad9-751b-45dc-a37d-eb545e66f5d8" providerId="AD" clId="Web-{8954DD83-82AA-D0FD-748F-00E5D26B4DF0}" dt="2025-10-15T04:14:12.275" v="103"/>
          <ac:spMkLst>
            <pc:docMk/>
            <pc:sldMk cId="2688933458" sldId="308"/>
            <ac:spMk id="3" creationId="{A0EEA50A-4AE5-89D6-FDCE-42A9F8B00DD6}"/>
          </ac:spMkLst>
        </pc:spChg>
        <pc:picChg chg="add mod">
          <ac:chgData name="saraths" userId="S::saraths@am.amrita.edu::244d0ad9-751b-45dc-a37d-eb545e66f5d8" providerId="AD" clId="Web-{8954DD83-82AA-D0FD-748F-00E5D26B4DF0}" dt="2025-10-15T04:15:43.728" v="127" actId="14100"/>
          <ac:picMkLst>
            <pc:docMk/>
            <pc:sldMk cId="2688933458" sldId="308"/>
            <ac:picMk id="4" creationId="{BC95E404-F088-9863-C06E-E52BF92AE562}"/>
          </ac:picMkLst>
        </pc:picChg>
      </pc:sldChg>
      <pc:sldChg chg="addSp delSp modSp new ord">
        <pc:chgData name="saraths" userId="S::saraths@am.amrita.edu::244d0ad9-751b-45dc-a37d-eb545e66f5d8" providerId="AD" clId="Web-{8954DD83-82AA-D0FD-748F-00E5D26B4DF0}" dt="2025-10-15T04:22:34.388" v="148"/>
        <pc:sldMkLst>
          <pc:docMk/>
          <pc:sldMk cId="727086269" sldId="309"/>
        </pc:sldMkLst>
        <pc:spChg chg="del mod">
          <ac:chgData name="saraths" userId="S::saraths@am.amrita.edu::244d0ad9-751b-45dc-a37d-eb545e66f5d8" providerId="AD" clId="Web-{8954DD83-82AA-D0FD-748F-00E5D26B4DF0}" dt="2025-10-15T04:22:34.388" v="148"/>
          <ac:spMkLst>
            <pc:docMk/>
            <pc:sldMk cId="727086269" sldId="309"/>
            <ac:spMk id="2" creationId="{62947005-85A6-0247-A56C-EA47161DDFF4}"/>
          </ac:spMkLst>
        </pc:spChg>
        <pc:spChg chg="del">
          <ac:chgData name="saraths" userId="S::saraths@am.amrita.edu::244d0ad9-751b-45dc-a37d-eb545e66f5d8" providerId="AD" clId="Web-{8954DD83-82AA-D0FD-748F-00E5D26B4DF0}" dt="2025-10-15T04:21:25.028" v="131"/>
          <ac:spMkLst>
            <pc:docMk/>
            <pc:sldMk cId="727086269" sldId="309"/>
            <ac:spMk id="3" creationId="{37C58034-D45D-054D-1563-6866E1BA08F4}"/>
          </ac:spMkLst>
        </pc:spChg>
        <pc:spChg chg="add mod">
          <ac:chgData name="saraths" userId="S::saraths@am.amrita.edu::244d0ad9-751b-45dc-a37d-eb545e66f5d8" providerId="AD" clId="Web-{8954DD83-82AA-D0FD-748F-00E5D26B4DF0}" dt="2025-10-15T04:22:34.388" v="148"/>
          <ac:spMkLst>
            <pc:docMk/>
            <pc:sldMk cId="727086269" sldId="309"/>
            <ac:spMk id="6" creationId="{77169855-C575-388F-05B0-26BC6DAA8616}"/>
          </ac:spMkLst>
        </pc:spChg>
        <pc:picChg chg="add mod">
          <ac:chgData name="saraths" userId="S::saraths@am.amrita.edu::244d0ad9-751b-45dc-a37d-eb545e66f5d8" providerId="AD" clId="Web-{8954DD83-82AA-D0FD-748F-00E5D26B4DF0}" dt="2025-10-15T04:21:50.184" v="143" actId="14100"/>
          <ac:picMkLst>
            <pc:docMk/>
            <pc:sldMk cId="727086269" sldId="309"/>
            <ac:picMk id="4" creationId="{4CCEF311-4D5A-2015-97C8-16EE41D929D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08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213511"/>
            <a:ext cx="11191875" cy="115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0438" y="1659128"/>
            <a:ext cx="4949190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jp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2.png"/><Relationship Id="rId7" Type="http://schemas.openxmlformats.org/officeDocument/2006/relationships/image" Target="../media/image6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hyperlink" Target="http://yann.lecun.com/exdb/publis/pdf/lecun-01a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495803" y="2596836"/>
            <a:ext cx="7010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Convolutional Neural Network (CNN)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9B39-C029-4729-4B9F-7A22938C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47" y="1136"/>
            <a:ext cx="11191875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400" b="1" dirty="0"/>
              <a:t>Limitations of Feedforward Neural Networks (FNNs) for Images</a:t>
            </a:r>
            <a:endParaRPr lang="en-US" sz="24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1419B4-DC26-611D-E507-337FE3D7E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18" y="365672"/>
            <a:ext cx="9463958" cy="596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4639E-D1BC-EF2C-6553-D0A7F2850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29" y="4763"/>
            <a:ext cx="11418863" cy="63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1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0" y="138811"/>
            <a:ext cx="5887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30" dirty="0"/>
              <a:t> </a:t>
            </a:r>
            <a:r>
              <a:rPr dirty="0"/>
              <a:t>operation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287" y="1366650"/>
            <a:ext cx="5747716" cy="32548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7422" y="4825304"/>
            <a:ext cx="8564245" cy="138954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98450" marR="466725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Ø"/>
            </a:pP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Convolution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simple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mathematical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operation</a:t>
            </a:r>
            <a:r>
              <a:rPr sz="1800" b="1" spc="-4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fundamental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z="18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many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common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image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processing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operations.</a:t>
            </a:r>
            <a:endParaRPr sz="1800">
              <a:latin typeface="Arial"/>
              <a:cs typeface="Arial"/>
            </a:endParaRPr>
          </a:p>
          <a:p>
            <a:pPr marL="298450" marR="5080" indent="-285750">
              <a:lnSpc>
                <a:spcPct val="99300"/>
              </a:lnSpc>
              <a:spcBef>
                <a:spcPts val="15"/>
              </a:spcBef>
              <a:buFont typeface="Wingdings"/>
              <a:buChar char="Ø"/>
            </a:pPr>
            <a:r>
              <a:rPr lang="en-US" dirty="0">
                <a:solidFill>
                  <a:srgbClr val="1F2023"/>
                </a:solidFill>
                <a:latin typeface="Arial MT"/>
                <a:cs typeface="Arial"/>
              </a:rPr>
              <a:t> 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Convolution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provides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way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`multiplying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together'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two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arrays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numbers,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generally of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different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sizes,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but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same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dimensionality,</a:t>
            </a:r>
            <a:r>
              <a:rPr sz="1800" spc="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produce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third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array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lang="en-US" spc="-5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numbers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same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dimensionality.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3494" y="654507"/>
            <a:ext cx="8088630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Convolution is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mathematical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way</a:t>
            </a:r>
            <a:r>
              <a:rPr sz="18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combining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two</a:t>
            </a:r>
            <a:r>
              <a:rPr sz="1800" b="1" spc="-4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signals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form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third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signal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Picture 6" descr="A blue and green squares&#10;&#10;AI-generated content may be incorrect.">
            <a:extLst>
              <a:ext uri="{FF2B5EF4-FFF2-40B4-BE49-F238E27FC236}">
                <a16:creationId xmlns:a16="http://schemas.microsoft.com/office/drawing/2014/main" id="{10361E23-9780-BD34-4301-B037738B5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66" y="392504"/>
            <a:ext cx="4140902" cy="4262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926" y="435428"/>
            <a:ext cx="8261217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0" y="138811"/>
            <a:ext cx="5887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30" dirty="0"/>
              <a:t> </a:t>
            </a:r>
            <a:r>
              <a:rPr dirty="0"/>
              <a:t>operation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5203" y="989212"/>
            <a:ext cx="6743149" cy="27319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743" y="126263"/>
            <a:ext cx="3189710" cy="37598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0371" y="3884676"/>
            <a:ext cx="5413248" cy="21793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59" y="5777585"/>
            <a:ext cx="8435975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5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(a)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Horizontal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(b)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Vertical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  <a:p>
            <a:pPr marL="5074285">
              <a:lnSpc>
                <a:spcPts val="2095"/>
              </a:lnSpc>
            </a:pPr>
            <a:r>
              <a:rPr sz="1800" dirty="0">
                <a:latin typeface="Calibri"/>
                <a:cs typeface="Calibri"/>
              </a:rPr>
              <a:t>Edge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sobel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5534" y="635889"/>
            <a:ext cx="399224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  <a:p>
            <a:pPr marL="2820670">
              <a:lnSpc>
                <a:spcPts val="2135"/>
              </a:lnSpc>
            </a:pPr>
            <a:r>
              <a:rPr sz="1800" spc="-10" dirty="0">
                <a:latin typeface="Calibri"/>
                <a:cs typeface="Calibri"/>
              </a:rPr>
              <a:t>Kernel/Filter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3988" y="3892296"/>
            <a:ext cx="1980486" cy="2133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296" y="4425696"/>
            <a:ext cx="4146804" cy="12807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4810" y="4131309"/>
            <a:ext cx="1177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Sobel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Masks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0" y="138811"/>
            <a:ext cx="5887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30" dirty="0"/>
              <a:t> </a:t>
            </a:r>
            <a:r>
              <a:rPr dirty="0"/>
              <a:t>operation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43" y="969263"/>
            <a:ext cx="4324699" cy="5105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77788" y="6053734"/>
            <a:ext cx="3065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Blurred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5534" y="635889"/>
            <a:ext cx="399224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  <a:p>
            <a:pPr marL="2820670">
              <a:lnSpc>
                <a:spcPts val="2135"/>
              </a:lnSpc>
            </a:pPr>
            <a:r>
              <a:rPr sz="1800" spc="-10" dirty="0">
                <a:latin typeface="Calibri"/>
                <a:cs typeface="Calibri"/>
              </a:rPr>
              <a:t>Kernel/Filter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8591" y="1136903"/>
            <a:ext cx="4244340" cy="26548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43515" y="2357373"/>
            <a:ext cx="1301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93308" y="3869435"/>
            <a:ext cx="5343144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2D</a:t>
            </a:r>
            <a:r>
              <a:rPr spc="-5" dirty="0"/>
              <a:t> </a:t>
            </a:r>
            <a:r>
              <a:rPr spc="-10" dirty="0"/>
              <a:t>convolution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772" y="1248155"/>
            <a:ext cx="10211170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310" dirty="0">
                <a:latin typeface="Arial"/>
                <a:cs typeface="Arial"/>
              </a:rPr>
              <a:t>Convolution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997077"/>
            <a:ext cx="8072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Convolving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input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6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6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dimension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with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3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3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filter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results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4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4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output.</a:t>
            </a:r>
            <a:endParaRPr sz="1800">
              <a:latin typeface="Roboto"/>
              <a:cs typeface="Roboto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>
              <a:latin typeface="Roboto"/>
              <a:cs typeface="Roboto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</a:t>
            </a:r>
            <a:r>
              <a:rPr sz="1800" b="1" spc="-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size:</a:t>
            </a:r>
            <a:r>
              <a:rPr sz="1800" b="1" spc="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>
              <a:latin typeface="Roboto"/>
              <a:cs typeface="Roboto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r>
              <a:rPr sz="1800" spc="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2932" y="2415129"/>
            <a:ext cx="8458200" cy="3835400"/>
            <a:chOff x="1392932" y="2415129"/>
            <a:chExt cx="8458200" cy="3835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2932" y="2415129"/>
              <a:ext cx="8457832" cy="35330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8900" y="5839967"/>
              <a:ext cx="1514855" cy="4099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7296" y="5388863"/>
              <a:ext cx="1248155" cy="3916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7240" y="5487923"/>
              <a:ext cx="1001268" cy="3520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59863" y="3060191"/>
              <a:ext cx="1333500" cy="1394460"/>
            </a:xfrm>
            <a:custGeom>
              <a:avLst/>
              <a:gdLst/>
              <a:ahLst/>
              <a:cxnLst/>
              <a:rect l="l" t="t" r="r" b="b"/>
              <a:pathLst>
                <a:path w="1333500" h="1394460">
                  <a:moveTo>
                    <a:pt x="1333500" y="0"/>
                  </a:moveTo>
                  <a:lnTo>
                    <a:pt x="0" y="0"/>
                  </a:lnTo>
                  <a:lnTo>
                    <a:pt x="0" y="1394460"/>
                  </a:lnTo>
                  <a:lnTo>
                    <a:pt x="1333500" y="1394460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4471C4">
                <a:alpha val="4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1966" y="3649725"/>
              <a:ext cx="209295" cy="213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28644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3D</a:t>
            </a:r>
            <a:r>
              <a:rPr spc="-5" dirty="0"/>
              <a:t> </a:t>
            </a:r>
            <a:r>
              <a:rPr spc="-10" dirty="0"/>
              <a:t>Convolution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5355" y="1194834"/>
            <a:ext cx="8533659" cy="44969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63790" y="366217"/>
            <a:ext cx="2848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3D,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Filter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3D,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2D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C9CD-19EC-A697-5ED6-0CD230FD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360463"/>
            <a:ext cx="11191875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Numerical Example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3212A6-358B-D633-2A64-46378CD9E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575" y="1041441"/>
            <a:ext cx="9133237" cy="516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1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030B7A-657A-AA74-649F-1ACDF0404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30" y="152214"/>
            <a:ext cx="9305059" cy="60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1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0F0343AF-8011-3C9E-16AB-E345C1C8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856" y="360877"/>
            <a:ext cx="9887217" cy="57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37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3D</a:t>
            </a:r>
            <a:r>
              <a:rPr spc="-5" dirty="0"/>
              <a:t> </a:t>
            </a:r>
            <a:r>
              <a:rPr spc="-10" dirty="0"/>
              <a:t>Convolution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957" y="1214627"/>
            <a:ext cx="2084806" cy="44287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0" y="1126226"/>
            <a:ext cx="5486400" cy="313335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033259" y="147828"/>
            <a:ext cx="4985385" cy="6175375"/>
            <a:chOff x="7033259" y="147828"/>
            <a:chExt cx="4985385" cy="617537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147828"/>
              <a:ext cx="2707576" cy="44043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3259" y="4497324"/>
              <a:ext cx="4985004" cy="18257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959989" y="4603242"/>
            <a:ext cx="3250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9745" y="4246879"/>
            <a:ext cx="404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213511"/>
            <a:ext cx="11191875" cy="1009916"/>
          </a:xfrm>
          <a:prstGeom prst="rect">
            <a:avLst/>
          </a:prstGeom>
        </p:spPr>
        <p:txBody>
          <a:bodyPr vert="horz" wrap="square" lIns="0" tIns="512469" rIns="0" bIns="0" rtlCol="0" anchor="t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3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compute</a:t>
            </a:r>
            <a:r>
              <a:rPr spc="-20" dirty="0"/>
              <a:t> </a:t>
            </a:r>
            <a:r>
              <a:rPr spc="-10" dirty="0"/>
              <a:t>W</a:t>
            </a:r>
            <a:r>
              <a:rPr sz="2800" spc="-10" dirty="0"/>
              <a:t>0</a:t>
            </a:r>
            <a:r>
              <a:rPr spc="-10" dirty="0"/>
              <a:t>,H</a:t>
            </a:r>
            <a:r>
              <a:rPr sz="2800" spc="-10" dirty="0"/>
              <a:t>0</a:t>
            </a:r>
            <a:r>
              <a:rPr spc="-10" dirty="0"/>
              <a:t>,D</a:t>
            </a:r>
            <a:r>
              <a:rPr sz="2800" spc="-10" dirty="0"/>
              <a:t>0</a:t>
            </a:r>
            <a:r>
              <a:rPr spc="-10" dirty="0"/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5558" y="1527047"/>
            <a:ext cx="5790834" cy="3352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711" y="1214627"/>
            <a:ext cx="2095500" cy="4428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752" y="58469"/>
            <a:ext cx="59651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</a:t>
            </a:r>
            <a:r>
              <a:rPr spc="-40" dirty="0"/>
              <a:t> </a:t>
            </a:r>
            <a:r>
              <a:rPr dirty="0"/>
              <a:t>padding-</a:t>
            </a:r>
            <a:r>
              <a:rPr spc="-40" dirty="0"/>
              <a:t> </a:t>
            </a:r>
            <a:r>
              <a:rPr dirty="0"/>
              <a:t>size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ouput</a:t>
            </a:r>
            <a:r>
              <a:rPr spc="-30" dirty="0"/>
              <a:t> </a:t>
            </a:r>
            <a:r>
              <a:rPr spc="-10" dirty="0"/>
              <a:t>reduce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528" y="4644873"/>
            <a:ext cx="3343975" cy="10483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80915" y="3255264"/>
            <a:ext cx="7461884" cy="2601595"/>
            <a:chOff x="4280915" y="3255264"/>
            <a:chExt cx="7461884" cy="26015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7619" y="3255264"/>
              <a:ext cx="4114800" cy="26010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0915" y="4287012"/>
              <a:ext cx="3424428" cy="15300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79217" y="1150111"/>
            <a:ext cx="3314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25" dirty="0">
                <a:latin typeface="Calibri"/>
                <a:cs typeface="Calibri"/>
              </a:rPr>
              <a:t>7x7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1923" y="812291"/>
            <a:ext cx="2847249" cy="14192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5557" y="2634233"/>
            <a:ext cx="2972511" cy="14668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25215" y="916440"/>
            <a:ext cx="6094862" cy="182955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10714" y="710946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7x7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1450" y="848614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5x5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5561" y="2257501"/>
            <a:ext cx="1024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Kernel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3x3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3246" y="585673"/>
            <a:ext cx="363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7x7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40853" y="2406186"/>
            <a:ext cx="10236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Kernel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5x5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33023" y="1033398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3x3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2917" y="3864305"/>
            <a:ext cx="1800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7-</a:t>
            </a:r>
            <a:r>
              <a:rPr sz="1800" b="1" dirty="0">
                <a:latin typeface="Calibri"/>
                <a:cs typeface="Calibri"/>
              </a:rPr>
              <a:t>3+1=5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hence</a:t>
            </a:r>
            <a:r>
              <a:rPr sz="1800" b="1" spc="-25" dirty="0">
                <a:latin typeface="Calibri"/>
                <a:cs typeface="Calibri"/>
              </a:rPr>
              <a:t> 5x5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1020" y="2596134"/>
            <a:ext cx="180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7-</a:t>
            </a:r>
            <a:r>
              <a:rPr sz="1800" b="1" dirty="0">
                <a:latin typeface="Calibri"/>
                <a:cs typeface="Calibri"/>
              </a:rPr>
              <a:t>5+1=3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hence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3x3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51003"/>
            <a:ext cx="1778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C00000"/>
                </a:solidFill>
                <a:latin typeface="Arial Black"/>
                <a:cs typeface="Arial Black"/>
              </a:rPr>
              <a:t>Padding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33" y="711220"/>
            <a:ext cx="8725770" cy="29350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89016" y="4268470"/>
            <a:ext cx="33242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90805">
              <a:lnSpc>
                <a:spcPct val="100000"/>
              </a:lnSpc>
              <a:spcBef>
                <a:spcPts val="100"/>
              </a:spcBef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C00000"/>
                </a:solidFill>
                <a:latin typeface="Roboto"/>
                <a:cs typeface="Roboto"/>
              </a:rPr>
              <a:t>With</a:t>
            </a:r>
            <a:r>
              <a:rPr sz="1800" b="1" spc="-50" dirty="0">
                <a:solidFill>
                  <a:srgbClr val="C00000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Roboto"/>
                <a:cs typeface="Roboto"/>
              </a:rPr>
              <a:t>padding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Padding:</a:t>
            </a:r>
            <a:r>
              <a:rPr sz="1800" b="1" spc="-4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p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 size: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 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3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585757"/>
                </a:solidFill>
                <a:latin typeface="Roboto"/>
                <a:cs typeface="Roboto"/>
              </a:rPr>
              <a:t>(n+2p-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r>
              <a:rPr sz="1800" spc="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585757"/>
                </a:solidFill>
                <a:latin typeface="Roboto"/>
                <a:cs typeface="Roboto"/>
              </a:rPr>
              <a:t>(n+2p-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0202" y="4479163"/>
            <a:ext cx="25514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90805">
              <a:lnSpc>
                <a:spcPct val="100000"/>
              </a:lnSpc>
              <a:spcBef>
                <a:spcPts val="100"/>
              </a:spcBef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C00000"/>
                </a:solidFill>
                <a:latin typeface="Roboto"/>
                <a:cs typeface="Roboto"/>
              </a:rPr>
              <a:t>Without</a:t>
            </a:r>
            <a:r>
              <a:rPr sz="1800" b="1" spc="-95" dirty="0">
                <a:solidFill>
                  <a:srgbClr val="C00000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Roboto"/>
                <a:cs typeface="Roboto"/>
              </a:rPr>
              <a:t>padding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 size: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 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r>
              <a:rPr sz="1800" spc="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6" name="Picture 5" descr="A diagram of a grid&#10;&#10;AI-generated content may be incorrect.">
            <a:extLst>
              <a:ext uri="{FF2B5EF4-FFF2-40B4-BE49-F238E27FC236}">
                <a16:creationId xmlns:a16="http://schemas.microsoft.com/office/drawing/2014/main" id="{E4B18D60-F3E7-38D3-5270-5C316C931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742" y="3181418"/>
            <a:ext cx="3247221" cy="2931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118438"/>
            <a:ext cx="10857865" cy="938076"/>
          </a:xfrm>
          <a:prstGeom prst="rect">
            <a:avLst/>
          </a:prstGeom>
        </p:spPr>
        <p:txBody>
          <a:bodyPr vert="horz" wrap="square" lIns="0" tIns="55244" rIns="0" bIns="0" rtlCol="0" anchor="t">
            <a:spAutoFit/>
          </a:bodyPr>
          <a:lstStyle/>
          <a:p>
            <a:pPr marL="239395" marR="5080" indent="-226695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spc="-185" dirty="0">
                <a:solidFill>
                  <a:srgbClr val="212121"/>
                </a:solidFill>
                <a:latin typeface="Arial"/>
                <a:cs typeface="Arial"/>
              </a:rPr>
              <a:t>Stride</a:t>
            </a:r>
            <a:r>
              <a:rPr sz="2000" b="1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4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Tahoma"/>
                <a:cs typeface="Tahoma"/>
              </a:rPr>
              <a:t>parameter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b="1" spc="-215" dirty="0">
                <a:solidFill>
                  <a:srgbClr val="212121"/>
                </a:solidFill>
                <a:latin typeface="Arial"/>
                <a:cs typeface="Arial"/>
              </a:rPr>
              <a:t>neural</a:t>
            </a:r>
            <a:r>
              <a:rPr sz="2000" b="1" spc="-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b="1" spc="-229" dirty="0">
                <a:solidFill>
                  <a:srgbClr val="212121"/>
                </a:solidFill>
                <a:latin typeface="Arial"/>
                <a:cs typeface="Arial"/>
              </a:rPr>
              <a:t>network's</a:t>
            </a:r>
            <a:r>
              <a:rPr sz="2000" b="1" spc="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filter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95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Tahoma"/>
                <a:cs typeface="Tahoma"/>
              </a:rPr>
              <a:t>modifies</a:t>
            </a:r>
            <a:r>
              <a:rPr sz="20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2000" spc="-190" dirty="0">
                <a:solidFill>
                  <a:srgbClr val="212121"/>
                </a:solidFill>
                <a:latin typeface="Tahoma"/>
                <a:cs typeface="Tahoma"/>
              </a:rPr>
              <a:t>amount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20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Tahoma"/>
                <a:cs typeface="Tahoma"/>
              </a:rPr>
              <a:t>movement</a:t>
            </a:r>
            <a:r>
              <a:rPr sz="20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Tahoma"/>
                <a:cs typeface="Tahoma"/>
              </a:rPr>
              <a:t>over</a:t>
            </a:r>
            <a:r>
              <a:rPr sz="20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Tahoma"/>
                <a:cs typeface="Tahoma"/>
              </a:rPr>
              <a:t>image</a:t>
            </a:r>
            <a:r>
              <a:rPr sz="20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Tahoma"/>
                <a:cs typeface="Tahoma"/>
              </a:rPr>
              <a:t>video.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endParaRPr lang="en-US" sz="2000" spc="-75" dirty="0">
              <a:solidFill>
                <a:srgbClr val="212121"/>
              </a:solidFill>
              <a:latin typeface="Tahoma"/>
              <a:ea typeface="Tahoma"/>
              <a:cs typeface="Tahoma"/>
            </a:endParaRPr>
          </a:p>
          <a:p>
            <a:pPr marL="239395" marR="5080" indent="-226695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7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Tahoma"/>
                <a:cs typeface="Tahoma"/>
              </a:rPr>
              <a:t>example,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12121"/>
                </a:solidFill>
                <a:latin typeface="Tahoma"/>
                <a:cs typeface="Tahoma"/>
              </a:rPr>
              <a:t>if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4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2000" spc="-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12121"/>
                </a:solidFill>
                <a:latin typeface="Arial"/>
                <a:cs typeface="Arial"/>
              </a:rPr>
              <a:t>neural </a:t>
            </a:r>
            <a:r>
              <a:rPr sz="2000" b="1" spc="-225" dirty="0">
                <a:solidFill>
                  <a:srgbClr val="212121"/>
                </a:solidFill>
                <a:latin typeface="Arial"/>
                <a:cs typeface="Arial"/>
              </a:rPr>
              <a:t>network's</a:t>
            </a:r>
            <a:r>
              <a:rPr sz="2000" b="1" spc="-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212121"/>
                </a:solidFill>
                <a:latin typeface="Arial"/>
                <a:cs typeface="Arial"/>
              </a:rPr>
              <a:t>stride</a:t>
            </a:r>
            <a:r>
              <a:rPr sz="2000" b="1" spc="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set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Tahoma"/>
                <a:cs typeface="Tahoma"/>
              </a:rPr>
              <a:t>1,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filter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Tahoma"/>
                <a:cs typeface="Tahoma"/>
              </a:rPr>
              <a:t>move</a:t>
            </a:r>
            <a:r>
              <a:rPr sz="20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Tahoma"/>
                <a:cs typeface="Tahoma"/>
              </a:rPr>
              <a:t>one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Tahoma"/>
                <a:cs typeface="Tahoma"/>
              </a:rPr>
              <a:t>pixel,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Tahoma"/>
                <a:cs typeface="Tahoma"/>
              </a:rPr>
              <a:t>unit,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15" dirty="0">
                <a:solidFill>
                  <a:srgbClr val="212121"/>
                </a:solidFill>
                <a:latin typeface="Tahoma"/>
                <a:cs typeface="Tahoma"/>
              </a:rPr>
              <a:t>at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4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time.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solidFill>
                  <a:srgbClr val="C00000"/>
                </a:solidFill>
                <a:latin typeface="Arial"/>
                <a:cs typeface="Arial"/>
              </a:rPr>
              <a:t>Strided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15" dirty="0">
                <a:solidFill>
                  <a:srgbClr val="C00000"/>
                </a:solidFill>
                <a:latin typeface="Arial"/>
                <a:cs typeface="Arial"/>
              </a:rPr>
              <a:t>Convolutions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800" y="2696007"/>
            <a:ext cx="60204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Suppose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choose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stride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2.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So,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while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convoluting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through</a:t>
            </a:r>
            <a:r>
              <a:rPr sz="1800" spc="-8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image,</a:t>
            </a:r>
            <a:r>
              <a:rPr sz="1800" spc="-8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we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will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take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two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steps</a:t>
            </a:r>
            <a:r>
              <a:rPr sz="1800" spc="-7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–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both</a:t>
            </a:r>
            <a:r>
              <a:rPr sz="1800" spc="-7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in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the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horizontal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and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vertical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directions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separately.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The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dimensions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for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stride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85757"/>
                </a:solidFill>
                <a:latin typeface="Roboto"/>
                <a:cs typeface="Roboto"/>
              </a:rPr>
              <a:t>s</a:t>
            </a:r>
            <a:r>
              <a:rPr sz="1800" i="1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will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be: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Padding:</a:t>
            </a:r>
            <a:r>
              <a:rPr sz="1800" b="1" spc="-4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p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Stride:</a:t>
            </a:r>
            <a:r>
              <a:rPr sz="1800" b="1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s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</a:t>
            </a:r>
            <a:r>
              <a:rPr sz="1800" b="1" spc="-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size: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[(n+2p-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f)/s+1]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[(n+2p-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f)/s+1]</a:t>
            </a:r>
            <a:endParaRPr sz="1800" dirty="0">
              <a:latin typeface="Roboto"/>
              <a:cs typeface="Roboto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Stride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helps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to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reduce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8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size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image,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particularly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useful</a:t>
            </a:r>
            <a:r>
              <a:rPr sz="1800" spc="-9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feature.</a:t>
            </a:r>
            <a:endParaRPr sz="18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337" y="2343915"/>
            <a:ext cx="5335653" cy="21701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34556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Stride</a:t>
            </a:r>
            <a:r>
              <a:rPr spc="-3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padding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48" y="3662171"/>
            <a:ext cx="3763116" cy="2133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1311" y="580644"/>
            <a:ext cx="3390899" cy="64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1385316"/>
            <a:ext cx="2209044" cy="21332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466844" y="1469136"/>
            <a:ext cx="3500754" cy="2914015"/>
            <a:chOff x="4466844" y="1469136"/>
            <a:chExt cx="3500754" cy="2914015"/>
          </a:xfrm>
        </p:grpSpPr>
        <p:sp>
          <p:nvSpPr>
            <p:cNvPr id="7" name="object 7"/>
            <p:cNvSpPr/>
            <p:nvPr/>
          </p:nvSpPr>
          <p:spPr>
            <a:xfrm>
              <a:off x="4485894" y="1488186"/>
              <a:ext cx="3462654" cy="2875915"/>
            </a:xfrm>
            <a:custGeom>
              <a:avLst/>
              <a:gdLst/>
              <a:ahLst/>
              <a:cxnLst/>
              <a:rect l="l" t="t" r="r" b="b"/>
              <a:pathLst>
                <a:path w="3462654" h="2875915">
                  <a:moveTo>
                    <a:pt x="0" y="2875788"/>
                  </a:moveTo>
                  <a:lnTo>
                    <a:pt x="3462528" y="2875788"/>
                  </a:lnTo>
                  <a:lnTo>
                    <a:pt x="3462528" y="0"/>
                  </a:lnTo>
                  <a:lnTo>
                    <a:pt x="0" y="0"/>
                  </a:lnTo>
                  <a:lnTo>
                    <a:pt x="0" y="2875788"/>
                  </a:lnTo>
                  <a:close/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1323" y="3570731"/>
              <a:ext cx="1061085" cy="22860"/>
            </a:xfrm>
            <a:custGeom>
              <a:avLst/>
              <a:gdLst/>
              <a:ahLst/>
              <a:cxnLst/>
              <a:rect l="l" t="t" r="r" b="b"/>
              <a:pathLst>
                <a:path w="1061085" h="22860">
                  <a:moveTo>
                    <a:pt x="1060703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60703" y="22859"/>
                  </a:lnTo>
                  <a:lnTo>
                    <a:pt x="10607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6826" y="1497533"/>
            <a:ext cx="1748155" cy="2042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953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2800" b="1" spc="-10" dirty="0">
                <a:latin typeface="Calibri"/>
                <a:cs typeface="Calibri"/>
              </a:rPr>
              <a:t>Wi=7,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Hi=7 </a:t>
            </a:r>
            <a:r>
              <a:rPr sz="2800" b="1" spc="-25" dirty="0">
                <a:latin typeface="Calibri"/>
                <a:cs typeface="Calibri"/>
              </a:rPr>
              <a:t>F=3</a:t>
            </a:r>
            <a:endParaRPr sz="2800">
              <a:latin typeface="Calibri"/>
              <a:cs typeface="Calibri"/>
            </a:endParaRPr>
          </a:p>
          <a:p>
            <a:pPr marR="1193800">
              <a:lnSpc>
                <a:spcPct val="100000"/>
              </a:lnSpc>
              <a:spcBef>
                <a:spcPts val="5"/>
              </a:spcBef>
            </a:pPr>
            <a:r>
              <a:rPr sz="2800" b="1" spc="-25" dirty="0">
                <a:latin typeface="Calibri"/>
                <a:cs typeface="Calibri"/>
              </a:rPr>
              <a:t>P=1 S=2</a:t>
            </a:r>
            <a:endParaRPr sz="2800">
              <a:latin typeface="Calibri"/>
              <a:cs typeface="Calibri"/>
            </a:endParaRPr>
          </a:p>
          <a:p>
            <a:pPr marL="675005">
              <a:lnSpc>
                <a:spcPts val="2445"/>
              </a:lnSpc>
            </a:pPr>
            <a:r>
              <a:rPr sz="2050" spc="-10" dirty="0">
                <a:latin typeface="Cambria Math"/>
                <a:cs typeface="Cambria Math"/>
              </a:rPr>
              <a:t>(𝟕−𝟑+𝟐)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4585" y="3590925"/>
            <a:ext cx="1682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𝟐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2661" y="3316604"/>
            <a:ext cx="810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+1=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6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6826" y="3230651"/>
            <a:ext cx="86614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0000"/>
              </a:lnSpc>
              <a:spcBef>
                <a:spcPts val="100"/>
              </a:spcBef>
            </a:pPr>
            <a:r>
              <a:rPr sz="2800" b="1" spc="-25" dirty="0">
                <a:latin typeface="Calibri"/>
                <a:cs typeface="Calibri"/>
              </a:rPr>
              <a:t>Wo= </a:t>
            </a:r>
            <a:r>
              <a:rPr sz="2800" b="1" dirty="0">
                <a:latin typeface="Calibri"/>
                <a:cs typeface="Calibri"/>
              </a:rPr>
              <a:t>Ho=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0995" y="737616"/>
            <a:ext cx="3049905" cy="646430"/>
          </a:xfrm>
          <a:prstGeom prst="rect">
            <a:avLst/>
          </a:prstGeom>
          <a:solidFill>
            <a:srgbClr val="C5DFB4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Higher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,smaller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size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66018" y="4200144"/>
            <a:ext cx="3237714" cy="18173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13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b="1" spc="-310" dirty="0">
                <a:solidFill>
                  <a:srgbClr val="C00000"/>
                </a:solidFill>
                <a:latin typeface="Arial"/>
                <a:cs typeface="Arial"/>
              </a:rPr>
              <a:t>Convolutions</a:t>
            </a:r>
            <a:r>
              <a:rPr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15" dirty="0">
                <a:solidFill>
                  <a:srgbClr val="C00000"/>
                </a:solidFill>
                <a:latin typeface="Arial"/>
                <a:cs typeface="Arial"/>
              </a:rPr>
              <a:t>Over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35" dirty="0">
                <a:solidFill>
                  <a:srgbClr val="C00000"/>
                </a:solidFill>
                <a:latin typeface="Arial"/>
                <a:cs typeface="Arial"/>
              </a:rPr>
              <a:t>Volume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1480" y="580644"/>
            <a:ext cx="10796270" cy="5643880"/>
            <a:chOff x="411480" y="580644"/>
            <a:chExt cx="10796270" cy="5643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8001" y="580644"/>
              <a:ext cx="7479636" cy="2477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2918460"/>
              <a:ext cx="6659880" cy="330555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14082" y="3452241"/>
            <a:ext cx="4813300" cy="222059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Generalized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dimensions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can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be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given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as:</a:t>
            </a:r>
            <a:endParaRPr sz="1800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7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endParaRPr sz="1800" baseline="-20833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Filter:</a:t>
            </a:r>
            <a:r>
              <a:rPr sz="1800" b="1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7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endParaRPr sz="1800" baseline="-20833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Padding:</a:t>
            </a:r>
            <a:r>
              <a:rPr sz="1800" b="1" spc="-1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p</a:t>
            </a:r>
            <a:endParaRPr sz="1800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Stride:</a:t>
            </a:r>
            <a:r>
              <a:rPr sz="1800" b="1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s</a:t>
            </a:r>
            <a:endParaRPr sz="1800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lang="en-US" spc="-65" dirty="0">
                <a:solidFill>
                  <a:srgbClr val="585757"/>
                </a:solidFill>
                <a:latin typeface="Roboto"/>
                <a:cs typeface="Roboto"/>
              </a:rPr>
              <a:t>[(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f)/s</a:t>
            </a:r>
            <a:r>
              <a:rPr lang="en-US" dirty="0">
                <a:solidFill>
                  <a:srgbClr val="585757"/>
                </a:solidFill>
                <a:latin typeface="Roboto"/>
                <a:cs typeface="Roboto"/>
              </a:rPr>
              <a:t>]+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1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[(n+2p-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f)/s</a:t>
            </a:r>
            <a:r>
              <a:rPr lang="en-US" dirty="0">
                <a:solidFill>
                  <a:srgbClr val="585757"/>
                </a:solidFill>
                <a:latin typeface="Roboto"/>
                <a:cs typeface="Roboto"/>
              </a:rPr>
              <a:t>]+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1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 err="1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7" baseline="-20833" dirty="0" err="1">
                <a:solidFill>
                  <a:srgbClr val="585757"/>
                </a:solidFill>
                <a:latin typeface="Roboto"/>
                <a:cs typeface="Roboto"/>
              </a:rPr>
              <a:t>c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’</a:t>
            </a:r>
            <a:endParaRPr sz="1800">
              <a:latin typeface="Roboto"/>
              <a:cs typeface="Roboto"/>
            </a:endParaRPr>
          </a:p>
          <a:p>
            <a:pPr marL="38100" marR="30480" indent="-1333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	Here,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r>
              <a:rPr sz="1800" spc="179" baseline="-20833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is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number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channels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input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and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filter,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while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15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’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is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number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filters.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758950" y="1367282"/>
            <a:ext cx="1938020" cy="1360805"/>
            <a:chOff x="1758950" y="1367282"/>
            <a:chExt cx="1938020" cy="1360805"/>
          </a:xfrm>
        </p:grpSpPr>
        <p:sp>
          <p:nvSpPr>
            <p:cNvPr id="6" name="object 6"/>
            <p:cNvSpPr/>
            <p:nvPr/>
          </p:nvSpPr>
          <p:spPr>
            <a:xfrm>
              <a:off x="1763268" y="1371600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1702434" y="0"/>
                  </a:moveTo>
                  <a:lnTo>
                    <a:pt x="225044" y="0"/>
                  </a:lnTo>
                  <a:lnTo>
                    <a:pt x="179705" y="4572"/>
                  </a:lnTo>
                  <a:lnTo>
                    <a:pt x="137413" y="17652"/>
                  </a:lnTo>
                  <a:lnTo>
                    <a:pt x="99187" y="38480"/>
                  </a:lnTo>
                  <a:lnTo>
                    <a:pt x="65912" y="65912"/>
                  </a:lnTo>
                  <a:lnTo>
                    <a:pt x="38481" y="99187"/>
                  </a:lnTo>
                  <a:lnTo>
                    <a:pt x="17652" y="137413"/>
                  </a:lnTo>
                  <a:lnTo>
                    <a:pt x="4571" y="179577"/>
                  </a:lnTo>
                  <a:lnTo>
                    <a:pt x="0" y="224916"/>
                  </a:lnTo>
                  <a:lnTo>
                    <a:pt x="0" y="1125092"/>
                  </a:lnTo>
                  <a:lnTo>
                    <a:pt x="4571" y="1170432"/>
                  </a:lnTo>
                  <a:lnTo>
                    <a:pt x="17652" y="1212596"/>
                  </a:lnTo>
                  <a:lnTo>
                    <a:pt x="38481" y="1250823"/>
                  </a:lnTo>
                  <a:lnTo>
                    <a:pt x="65912" y="1284224"/>
                  </a:lnTo>
                  <a:lnTo>
                    <a:pt x="99187" y="1311655"/>
                  </a:lnTo>
                  <a:lnTo>
                    <a:pt x="137413" y="1332484"/>
                  </a:lnTo>
                  <a:lnTo>
                    <a:pt x="179705" y="1345564"/>
                  </a:lnTo>
                  <a:lnTo>
                    <a:pt x="225044" y="1350137"/>
                  </a:lnTo>
                  <a:lnTo>
                    <a:pt x="1702434" y="1350137"/>
                  </a:lnTo>
                  <a:lnTo>
                    <a:pt x="1747773" y="1345564"/>
                  </a:lnTo>
                  <a:lnTo>
                    <a:pt x="1789937" y="1332484"/>
                  </a:lnTo>
                  <a:lnTo>
                    <a:pt x="1828165" y="1311655"/>
                  </a:lnTo>
                  <a:lnTo>
                    <a:pt x="1861439" y="1284224"/>
                  </a:lnTo>
                  <a:lnTo>
                    <a:pt x="1888997" y="1250823"/>
                  </a:lnTo>
                  <a:lnTo>
                    <a:pt x="1909698" y="1212596"/>
                  </a:lnTo>
                  <a:lnTo>
                    <a:pt x="1922780" y="1170432"/>
                  </a:lnTo>
                  <a:lnTo>
                    <a:pt x="1927352" y="1125092"/>
                  </a:lnTo>
                  <a:lnTo>
                    <a:pt x="1927352" y="224916"/>
                  </a:lnTo>
                  <a:lnTo>
                    <a:pt x="1922780" y="179577"/>
                  </a:lnTo>
                  <a:lnTo>
                    <a:pt x="1909698" y="137413"/>
                  </a:lnTo>
                  <a:lnTo>
                    <a:pt x="1888997" y="99187"/>
                  </a:lnTo>
                  <a:lnTo>
                    <a:pt x="1861439" y="65912"/>
                  </a:lnTo>
                  <a:lnTo>
                    <a:pt x="1828165" y="38480"/>
                  </a:lnTo>
                  <a:lnTo>
                    <a:pt x="1789937" y="17652"/>
                  </a:lnTo>
                  <a:lnTo>
                    <a:pt x="1747773" y="4572"/>
                  </a:lnTo>
                  <a:lnTo>
                    <a:pt x="1702434" y="0"/>
                  </a:lnTo>
                  <a:close/>
                </a:path>
              </a:pathLst>
            </a:custGeom>
            <a:solidFill>
              <a:srgbClr val="C5C5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64030" y="1372362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0" y="224916"/>
                  </a:moveTo>
                  <a:lnTo>
                    <a:pt x="4571" y="179577"/>
                  </a:lnTo>
                  <a:lnTo>
                    <a:pt x="17652" y="137413"/>
                  </a:lnTo>
                  <a:lnTo>
                    <a:pt x="38481" y="99187"/>
                  </a:lnTo>
                  <a:lnTo>
                    <a:pt x="65912" y="65912"/>
                  </a:lnTo>
                  <a:lnTo>
                    <a:pt x="99187" y="38480"/>
                  </a:lnTo>
                  <a:lnTo>
                    <a:pt x="137413" y="17652"/>
                  </a:lnTo>
                  <a:lnTo>
                    <a:pt x="179705" y="4572"/>
                  </a:lnTo>
                  <a:lnTo>
                    <a:pt x="225044" y="0"/>
                  </a:lnTo>
                  <a:lnTo>
                    <a:pt x="1702434" y="0"/>
                  </a:lnTo>
                  <a:lnTo>
                    <a:pt x="1747773" y="4572"/>
                  </a:lnTo>
                  <a:lnTo>
                    <a:pt x="1789937" y="17652"/>
                  </a:lnTo>
                  <a:lnTo>
                    <a:pt x="1828165" y="38480"/>
                  </a:lnTo>
                  <a:lnTo>
                    <a:pt x="1861439" y="65912"/>
                  </a:lnTo>
                  <a:lnTo>
                    <a:pt x="1888997" y="99187"/>
                  </a:lnTo>
                  <a:lnTo>
                    <a:pt x="1909698" y="137413"/>
                  </a:lnTo>
                  <a:lnTo>
                    <a:pt x="1922780" y="179577"/>
                  </a:lnTo>
                  <a:lnTo>
                    <a:pt x="1927352" y="224916"/>
                  </a:lnTo>
                  <a:lnTo>
                    <a:pt x="1927352" y="1125092"/>
                  </a:lnTo>
                  <a:lnTo>
                    <a:pt x="1922780" y="1170432"/>
                  </a:lnTo>
                  <a:lnTo>
                    <a:pt x="1909698" y="1212596"/>
                  </a:lnTo>
                  <a:lnTo>
                    <a:pt x="1888997" y="1250823"/>
                  </a:lnTo>
                  <a:lnTo>
                    <a:pt x="1861439" y="1284224"/>
                  </a:lnTo>
                  <a:lnTo>
                    <a:pt x="1828165" y="1311655"/>
                  </a:lnTo>
                  <a:lnTo>
                    <a:pt x="1789937" y="1332484"/>
                  </a:lnTo>
                  <a:lnTo>
                    <a:pt x="1747773" y="1345564"/>
                  </a:lnTo>
                  <a:lnTo>
                    <a:pt x="1702434" y="1350137"/>
                  </a:lnTo>
                  <a:lnTo>
                    <a:pt x="225044" y="1350137"/>
                  </a:lnTo>
                  <a:lnTo>
                    <a:pt x="179705" y="1345564"/>
                  </a:lnTo>
                  <a:lnTo>
                    <a:pt x="137413" y="1332484"/>
                  </a:lnTo>
                  <a:lnTo>
                    <a:pt x="99187" y="1311655"/>
                  </a:lnTo>
                  <a:lnTo>
                    <a:pt x="65912" y="1284224"/>
                  </a:lnTo>
                  <a:lnTo>
                    <a:pt x="38481" y="1250823"/>
                  </a:lnTo>
                  <a:lnTo>
                    <a:pt x="17652" y="1212596"/>
                  </a:lnTo>
                  <a:lnTo>
                    <a:pt x="4571" y="1170432"/>
                  </a:lnTo>
                  <a:lnTo>
                    <a:pt x="0" y="1125092"/>
                  </a:lnTo>
                  <a:lnTo>
                    <a:pt x="0" y="224916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94102" y="1747850"/>
            <a:ext cx="1258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Arial"/>
                <a:cs typeface="Arial"/>
              </a:rPr>
              <a:t>Acquisition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87952" y="1367282"/>
            <a:ext cx="2002789" cy="1424940"/>
            <a:chOff x="4187952" y="1367282"/>
            <a:chExt cx="2002789" cy="142494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7952" y="1370076"/>
              <a:ext cx="2002536" cy="14218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23004" y="1371600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1702308" y="0"/>
                  </a:moveTo>
                  <a:lnTo>
                    <a:pt x="225171" y="0"/>
                  </a:lnTo>
                  <a:lnTo>
                    <a:pt x="179705" y="4572"/>
                  </a:lnTo>
                  <a:lnTo>
                    <a:pt x="137413" y="17652"/>
                  </a:lnTo>
                  <a:lnTo>
                    <a:pt x="99187" y="38480"/>
                  </a:lnTo>
                  <a:lnTo>
                    <a:pt x="65912" y="65912"/>
                  </a:lnTo>
                  <a:lnTo>
                    <a:pt x="38481" y="99187"/>
                  </a:lnTo>
                  <a:lnTo>
                    <a:pt x="17653" y="137413"/>
                  </a:lnTo>
                  <a:lnTo>
                    <a:pt x="4572" y="179577"/>
                  </a:lnTo>
                  <a:lnTo>
                    <a:pt x="0" y="224916"/>
                  </a:lnTo>
                  <a:lnTo>
                    <a:pt x="0" y="1125092"/>
                  </a:lnTo>
                  <a:lnTo>
                    <a:pt x="4572" y="1170432"/>
                  </a:lnTo>
                  <a:lnTo>
                    <a:pt x="17653" y="1212596"/>
                  </a:lnTo>
                  <a:lnTo>
                    <a:pt x="38481" y="1250823"/>
                  </a:lnTo>
                  <a:lnTo>
                    <a:pt x="65912" y="1284224"/>
                  </a:lnTo>
                  <a:lnTo>
                    <a:pt x="99187" y="1311655"/>
                  </a:lnTo>
                  <a:lnTo>
                    <a:pt x="137413" y="1332484"/>
                  </a:lnTo>
                  <a:lnTo>
                    <a:pt x="179705" y="1345564"/>
                  </a:lnTo>
                  <a:lnTo>
                    <a:pt x="225171" y="1350137"/>
                  </a:lnTo>
                  <a:lnTo>
                    <a:pt x="1702308" y="1350137"/>
                  </a:lnTo>
                  <a:lnTo>
                    <a:pt x="1747647" y="1345564"/>
                  </a:lnTo>
                  <a:lnTo>
                    <a:pt x="1789938" y="1332484"/>
                  </a:lnTo>
                  <a:lnTo>
                    <a:pt x="1828165" y="1311655"/>
                  </a:lnTo>
                  <a:lnTo>
                    <a:pt x="1861566" y="1284224"/>
                  </a:lnTo>
                  <a:lnTo>
                    <a:pt x="1888998" y="1250823"/>
                  </a:lnTo>
                  <a:lnTo>
                    <a:pt x="1909826" y="1212596"/>
                  </a:lnTo>
                  <a:lnTo>
                    <a:pt x="1922907" y="1170432"/>
                  </a:lnTo>
                  <a:lnTo>
                    <a:pt x="1927479" y="1125092"/>
                  </a:lnTo>
                  <a:lnTo>
                    <a:pt x="1927479" y="224916"/>
                  </a:lnTo>
                  <a:lnTo>
                    <a:pt x="1922907" y="179577"/>
                  </a:lnTo>
                  <a:lnTo>
                    <a:pt x="1909826" y="137413"/>
                  </a:lnTo>
                  <a:lnTo>
                    <a:pt x="1888998" y="99187"/>
                  </a:lnTo>
                  <a:lnTo>
                    <a:pt x="1861566" y="65912"/>
                  </a:lnTo>
                  <a:lnTo>
                    <a:pt x="1828165" y="38480"/>
                  </a:lnTo>
                  <a:lnTo>
                    <a:pt x="1789938" y="17652"/>
                  </a:lnTo>
                  <a:lnTo>
                    <a:pt x="1747647" y="4572"/>
                  </a:lnTo>
                  <a:lnTo>
                    <a:pt x="1702308" y="0"/>
                  </a:lnTo>
                  <a:close/>
                </a:path>
              </a:pathLst>
            </a:custGeom>
            <a:solidFill>
              <a:srgbClr val="D1D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23766" y="1372362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0" y="224916"/>
                  </a:moveTo>
                  <a:lnTo>
                    <a:pt x="4572" y="179577"/>
                  </a:lnTo>
                  <a:lnTo>
                    <a:pt x="17653" y="137413"/>
                  </a:lnTo>
                  <a:lnTo>
                    <a:pt x="38481" y="99187"/>
                  </a:lnTo>
                  <a:lnTo>
                    <a:pt x="65912" y="65912"/>
                  </a:lnTo>
                  <a:lnTo>
                    <a:pt x="99187" y="38480"/>
                  </a:lnTo>
                  <a:lnTo>
                    <a:pt x="137413" y="17652"/>
                  </a:lnTo>
                  <a:lnTo>
                    <a:pt x="179705" y="4572"/>
                  </a:lnTo>
                  <a:lnTo>
                    <a:pt x="225171" y="0"/>
                  </a:lnTo>
                  <a:lnTo>
                    <a:pt x="1702308" y="0"/>
                  </a:lnTo>
                  <a:lnTo>
                    <a:pt x="1747647" y="4572"/>
                  </a:lnTo>
                  <a:lnTo>
                    <a:pt x="1789938" y="17652"/>
                  </a:lnTo>
                  <a:lnTo>
                    <a:pt x="1828164" y="38480"/>
                  </a:lnTo>
                  <a:lnTo>
                    <a:pt x="1861566" y="65912"/>
                  </a:lnTo>
                  <a:lnTo>
                    <a:pt x="1888998" y="99187"/>
                  </a:lnTo>
                  <a:lnTo>
                    <a:pt x="1909826" y="137413"/>
                  </a:lnTo>
                  <a:lnTo>
                    <a:pt x="1922907" y="179577"/>
                  </a:lnTo>
                  <a:lnTo>
                    <a:pt x="1927479" y="224916"/>
                  </a:lnTo>
                  <a:lnTo>
                    <a:pt x="1927479" y="1125092"/>
                  </a:lnTo>
                  <a:lnTo>
                    <a:pt x="1922907" y="1170432"/>
                  </a:lnTo>
                  <a:lnTo>
                    <a:pt x="1909826" y="1212596"/>
                  </a:lnTo>
                  <a:lnTo>
                    <a:pt x="1888998" y="1250823"/>
                  </a:lnTo>
                  <a:lnTo>
                    <a:pt x="1861566" y="1284224"/>
                  </a:lnTo>
                  <a:lnTo>
                    <a:pt x="1828164" y="1311655"/>
                  </a:lnTo>
                  <a:lnTo>
                    <a:pt x="1789938" y="1332484"/>
                  </a:lnTo>
                  <a:lnTo>
                    <a:pt x="1747647" y="1345564"/>
                  </a:lnTo>
                  <a:lnTo>
                    <a:pt x="1702308" y="1350137"/>
                  </a:lnTo>
                  <a:lnTo>
                    <a:pt x="225171" y="1350137"/>
                  </a:lnTo>
                  <a:lnTo>
                    <a:pt x="179705" y="1345564"/>
                  </a:lnTo>
                  <a:lnTo>
                    <a:pt x="137413" y="1332484"/>
                  </a:lnTo>
                  <a:lnTo>
                    <a:pt x="99187" y="1311655"/>
                  </a:lnTo>
                  <a:lnTo>
                    <a:pt x="65912" y="1284224"/>
                  </a:lnTo>
                  <a:lnTo>
                    <a:pt x="38481" y="1250823"/>
                  </a:lnTo>
                  <a:lnTo>
                    <a:pt x="17653" y="1212596"/>
                  </a:lnTo>
                  <a:lnTo>
                    <a:pt x="4572" y="1170432"/>
                  </a:lnTo>
                  <a:lnTo>
                    <a:pt x="0" y="1125092"/>
                  </a:lnTo>
                  <a:lnTo>
                    <a:pt x="0" y="224916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25441" y="1747850"/>
            <a:ext cx="1520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Arial"/>
                <a:cs typeface="Arial"/>
              </a:rPr>
              <a:t>Enhancement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60819" y="1367282"/>
            <a:ext cx="2002789" cy="1424940"/>
            <a:chOff x="6560819" y="1367282"/>
            <a:chExt cx="2002789" cy="142494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0819" y="1370076"/>
              <a:ext cx="2002535" cy="14218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97395" y="1371600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1701037" y="0"/>
                  </a:moveTo>
                  <a:lnTo>
                    <a:pt x="224789" y="0"/>
                  </a:lnTo>
                  <a:lnTo>
                    <a:pt x="179450" y="4572"/>
                  </a:lnTo>
                  <a:lnTo>
                    <a:pt x="137286" y="17652"/>
                  </a:lnTo>
                  <a:lnTo>
                    <a:pt x="99059" y="38480"/>
                  </a:lnTo>
                  <a:lnTo>
                    <a:pt x="65912" y="65912"/>
                  </a:lnTo>
                  <a:lnTo>
                    <a:pt x="38353" y="99187"/>
                  </a:lnTo>
                  <a:lnTo>
                    <a:pt x="17652" y="137413"/>
                  </a:lnTo>
                  <a:lnTo>
                    <a:pt x="4572" y="179577"/>
                  </a:lnTo>
                  <a:lnTo>
                    <a:pt x="0" y="224916"/>
                  </a:lnTo>
                  <a:lnTo>
                    <a:pt x="0" y="1125092"/>
                  </a:lnTo>
                  <a:lnTo>
                    <a:pt x="4572" y="1170432"/>
                  </a:lnTo>
                  <a:lnTo>
                    <a:pt x="17652" y="1212596"/>
                  </a:lnTo>
                  <a:lnTo>
                    <a:pt x="38353" y="1250823"/>
                  </a:lnTo>
                  <a:lnTo>
                    <a:pt x="65912" y="1284224"/>
                  </a:lnTo>
                  <a:lnTo>
                    <a:pt x="99059" y="1311655"/>
                  </a:lnTo>
                  <a:lnTo>
                    <a:pt x="137286" y="1332484"/>
                  </a:lnTo>
                  <a:lnTo>
                    <a:pt x="179450" y="1345564"/>
                  </a:lnTo>
                  <a:lnTo>
                    <a:pt x="224789" y="1350137"/>
                  </a:lnTo>
                  <a:lnTo>
                    <a:pt x="1701037" y="1350137"/>
                  </a:lnTo>
                  <a:lnTo>
                    <a:pt x="1746377" y="1345564"/>
                  </a:lnTo>
                  <a:lnTo>
                    <a:pt x="1788540" y="1332484"/>
                  </a:lnTo>
                  <a:lnTo>
                    <a:pt x="1826640" y="1311655"/>
                  </a:lnTo>
                  <a:lnTo>
                    <a:pt x="1859914" y="1284224"/>
                  </a:lnTo>
                  <a:lnTo>
                    <a:pt x="1887474" y="1250823"/>
                  </a:lnTo>
                  <a:lnTo>
                    <a:pt x="1908175" y="1212596"/>
                  </a:lnTo>
                  <a:lnTo>
                    <a:pt x="1921255" y="1170432"/>
                  </a:lnTo>
                  <a:lnTo>
                    <a:pt x="1925827" y="1125092"/>
                  </a:lnTo>
                  <a:lnTo>
                    <a:pt x="1925827" y="224916"/>
                  </a:lnTo>
                  <a:lnTo>
                    <a:pt x="1921255" y="179577"/>
                  </a:lnTo>
                  <a:lnTo>
                    <a:pt x="1908175" y="137413"/>
                  </a:lnTo>
                  <a:lnTo>
                    <a:pt x="1887474" y="99187"/>
                  </a:lnTo>
                  <a:lnTo>
                    <a:pt x="1859914" y="65912"/>
                  </a:lnTo>
                  <a:lnTo>
                    <a:pt x="1826640" y="38480"/>
                  </a:lnTo>
                  <a:lnTo>
                    <a:pt x="1788540" y="17652"/>
                  </a:lnTo>
                  <a:lnTo>
                    <a:pt x="1746377" y="4572"/>
                  </a:lnTo>
                  <a:lnTo>
                    <a:pt x="1701037" y="0"/>
                  </a:lnTo>
                  <a:close/>
                </a:path>
              </a:pathLst>
            </a:custGeom>
            <a:solidFill>
              <a:srgbClr val="D1D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8157" y="1372362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0" y="224916"/>
                  </a:moveTo>
                  <a:lnTo>
                    <a:pt x="4572" y="179577"/>
                  </a:lnTo>
                  <a:lnTo>
                    <a:pt x="17652" y="137413"/>
                  </a:lnTo>
                  <a:lnTo>
                    <a:pt x="38353" y="99187"/>
                  </a:lnTo>
                  <a:lnTo>
                    <a:pt x="65913" y="65912"/>
                  </a:lnTo>
                  <a:lnTo>
                    <a:pt x="99060" y="38480"/>
                  </a:lnTo>
                  <a:lnTo>
                    <a:pt x="137287" y="17652"/>
                  </a:lnTo>
                  <a:lnTo>
                    <a:pt x="179450" y="4572"/>
                  </a:lnTo>
                  <a:lnTo>
                    <a:pt x="224790" y="0"/>
                  </a:lnTo>
                  <a:lnTo>
                    <a:pt x="1701038" y="0"/>
                  </a:lnTo>
                  <a:lnTo>
                    <a:pt x="1746377" y="4572"/>
                  </a:lnTo>
                  <a:lnTo>
                    <a:pt x="1788541" y="17652"/>
                  </a:lnTo>
                  <a:lnTo>
                    <a:pt x="1826641" y="38480"/>
                  </a:lnTo>
                  <a:lnTo>
                    <a:pt x="1859915" y="65912"/>
                  </a:lnTo>
                  <a:lnTo>
                    <a:pt x="1887474" y="99187"/>
                  </a:lnTo>
                  <a:lnTo>
                    <a:pt x="1908175" y="137413"/>
                  </a:lnTo>
                  <a:lnTo>
                    <a:pt x="1921256" y="179577"/>
                  </a:lnTo>
                  <a:lnTo>
                    <a:pt x="1925827" y="224916"/>
                  </a:lnTo>
                  <a:lnTo>
                    <a:pt x="1925827" y="1125092"/>
                  </a:lnTo>
                  <a:lnTo>
                    <a:pt x="1921256" y="1170432"/>
                  </a:lnTo>
                  <a:lnTo>
                    <a:pt x="1908175" y="1212596"/>
                  </a:lnTo>
                  <a:lnTo>
                    <a:pt x="1887474" y="1250823"/>
                  </a:lnTo>
                  <a:lnTo>
                    <a:pt x="1859915" y="1284224"/>
                  </a:lnTo>
                  <a:lnTo>
                    <a:pt x="1826641" y="1311655"/>
                  </a:lnTo>
                  <a:lnTo>
                    <a:pt x="1788541" y="1332484"/>
                  </a:lnTo>
                  <a:lnTo>
                    <a:pt x="1746377" y="1345564"/>
                  </a:lnTo>
                  <a:lnTo>
                    <a:pt x="1701038" y="1350137"/>
                  </a:lnTo>
                  <a:lnTo>
                    <a:pt x="224790" y="1350137"/>
                  </a:lnTo>
                  <a:lnTo>
                    <a:pt x="179450" y="1345564"/>
                  </a:lnTo>
                  <a:lnTo>
                    <a:pt x="137287" y="1332484"/>
                  </a:lnTo>
                  <a:lnTo>
                    <a:pt x="99060" y="1311655"/>
                  </a:lnTo>
                  <a:lnTo>
                    <a:pt x="65913" y="1284224"/>
                  </a:lnTo>
                  <a:lnTo>
                    <a:pt x="38353" y="1250823"/>
                  </a:lnTo>
                  <a:lnTo>
                    <a:pt x="17652" y="1212596"/>
                  </a:lnTo>
                  <a:lnTo>
                    <a:pt x="4572" y="1170432"/>
                  </a:lnTo>
                  <a:lnTo>
                    <a:pt x="0" y="1125092"/>
                  </a:lnTo>
                  <a:lnTo>
                    <a:pt x="0" y="224916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93230" y="1754504"/>
            <a:ext cx="15341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Segmentation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84107" y="2956814"/>
            <a:ext cx="2005964" cy="1420495"/>
            <a:chOff x="8484107" y="2956814"/>
            <a:chExt cx="2005964" cy="142049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84107" y="2959608"/>
              <a:ext cx="2005583" cy="14173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523731" y="2961132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1701038" y="0"/>
                  </a:moveTo>
                  <a:lnTo>
                    <a:pt x="224917" y="0"/>
                  </a:lnTo>
                  <a:lnTo>
                    <a:pt x="179577" y="4571"/>
                  </a:lnTo>
                  <a:lnTo>
                    <a:pt x="137414" y="17652"/>
                  </a:lnTo>
                  <a:lnTo>
                    <a:pt x="99187" y="38480"/>
                  </a:lnTo>
                  <a:lnTo>
                    <a:pt x="65913" y="65912"/>
                  </a:lnTo>
                  <a:lnTo>
                    <a:pt x="38353" y="99187"/>
                  </a:lnTo>
                  <a:lnTo>
                    <a:pt x="17652" y="137413"/>
                  </a:lnTo>
                  <a:lnTo>
                    <a:pt x="4572" y="179704"/>
                  </a:lnTo>
                  <a:lnTo>
                    <a:pt x="0" y="225043"/>
                  </a:lnTo>
                  <a:lnTo>
                    <a:pt x="0" y="1125092"/>
                  </a:lnTo>
                  <a:lnTo>
                    <a:pt x="4572" y="1170431"/>
                  </a:lnTo>
                  <a:lnTo>
                    <a:pt x="17652" y="1212722"/>
                  </a:lnTo>
                  <a:lnTo>
                    <a:pt x="38353" y="1250949"/>
                  </a:lnTo>
                  <a:lnTo>
                    <a:pt x="65913" y="1284223"/>
                  </a:lnTo>
                  <a:lnTo>
                    <a:pt x="99187" y="1311655"/>
                  </a:lnTo>
                  <a:lnTo>
                    <a:pt x="137414" y="1332483"/>
                  </a:lnTo>
                  <a:lnTo>
                    <a:pt x="179577" y="1345564"/>
                  </a:lnTo>
                  <a:lnTo>
                    <a:pt x="224917" y="1350136"/>
                  </a:lnTo>
                  <a:lnTo>
                    <a:pt x="1701038" y="1350136"/>
                  </a:lnTo>
                  <a:lnTo>
                    <a:pt x="1746377" y="1345564"/>
                  </a:lnTo>
                  <a:lnTo>
                    <a:pt x="1788541" y="1332483"/>
                  </a:lnTo>
                  <a:lnTo>
                    <a:pt x="1826768" y="1311655"/>
                  </a:lnTo>
                  <a:lnTo>
                    <a:pt x="1860042" y="1284223"/>
                  </a:lnTo>
                  <a:lnTo>
                    <a:pt x="1887601" y="1250949"/>
                  </a:lnTo>
                  <a:lnTo>
                    <a:pt x="1908302" y="1212722"/>
                  </a:lnTo>
                  <a:lnTo>
                    <a:pt x="1921383" y="1170431"/>
                  </a:lnTo>
                  <a:lnTo>
                    <a:pt x="1925954" y="1125092"/>
                  </a:lnTo>
                  <a:lnTo>
                    <a:pt x="1925954" y="225043"/>
                  </a:lnTo>
                  <a:lnTo>
                    <a:pt x="1921383" y="179704"/>
                  </a:lnTo>
                  <a:lnTo>
                    <a:pt x="1908302" y="137413"/>
                  </a:lnTo>
                  <a:lnTo>
                    <a:pt x="1887601" y="99187"/>
                  </a:lnTo>
                  <a:lnTo>
                    <a:pt x="1860042" y="65912"/>
                  </a:lnTo>
                  <a:lnTo>
                    <a:pt x="1826768" y="38480"/>
                  </a:lnTo>
                  <a:lnTo>
                    <a:pt x="1788541" y="17652"/>
                  </a:lnTo>
                  <a:lnTo>
                    <a:pt x="1746377" y="4571"/>
                  </a:lnTo>
                  <a:lnTo>
                    <a:pt x="1701038" y="0"/>
                  </a:lnTo>
                  <a:close/>
                </a:path>
              </a:pathLst>
            </a:custGeom>
            <a:solidFill>
              <a:srgbClr val="D1D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24493" y="2961894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0" y="225043"/>
                  </a:moveTo>
                  <a:lnTo>
                    <a:pt x="4572" y="179704"/>
                  </a:lnTo>
                  <a:lnTo>
                    <a:pt x="17652" y="137413"/>
                  </a:lnTo>
                  <a:lnTo>
                    <a:pt x="38353" y="99186"/>
                  </a:lnTo>
                  <a:lnTo>
                    <a:pt x="65912" y="65912"/>
                  </a:lnTo>
                  <a:lnTo>
                    <a:pt x="99186" y="38480"/>
                  </a:lnTo>
                  <a:lnTo>
                    <a:pt x="137413" y="17652"/>
                  </a:lnTo>
                  <a:lnTo>
                    <a:pt x="179577" y="4571"/>
                  </a:lnTo>
                  <a:lnTo>
                    <a:pt x="224916" y="0"/>
                  </a:lnTo>
                  <a:lnTo>
                    <a:pt x="1701037" y="0"/>
                  </a:lnTo>
                  <a:lnTo>
                    <a:pt x="1746377" y="4571"/>
                  </a:lnTo>
                  <a:lnTo>
                    <a:pt x="1788540" y="17652"/>
                  </a:lnTo>
                  <a:lnTo>
                    <a:pt x="1826767" y="38480"/>
                  </a:lnTo>
                  <a:lnTo>
                    <a:pt x="1860041" y="65912"/>
                  </a:lnTo>
                  <a:lnTo>
                    <a:pt x="1887601" y="99186"/>
                  </a:lnTo>
                  <a:lnTo>
                    <a:pt x="1908302" y="137413"/>
                  </a:lnTo>
                  <a:lnTo>
                    <a:pt x="1921382" y="179704"/>
                  </a:lnTo>
                  <a:lnTo>
                    <a:pt x="1925954" y="225043"/>
                  </a:lnTo>
                  <a:lnTo>
                    <a:pt x="1925954" y="1125092"/>
                  </a:lnTo>
                  <a:lnTo>
                    <a:pt x="1921382" y="1170431"/>
                  </a:lnTo>
                  <a:lnTo>
                    <a:pt x="1908302" y="1212722"/>
                  </a:lnTo>
                  <a:lnTo>
                    <a:pt x="1887601" y="1250949"/>
                  </a:lnTo>
                  <a:lnTo>
                    <a:pt x="1860041" y="1284223"/>
                  </a:lnTo>
                  <a:lnTo>
                    <a:pt x="1826767" y="1311655"/>
                  </a:lnTo>
                  <a:lnTo>
                    <a:pt x="1788540" y="1332483"/>
                  </a:lnTo>
                  <a:lnTo>
                    <a:pt x="1746377" y="1345564"/>
                  </a:lnTo>
                  <a:lnTo>
                    <a:pt x="1701037" y="1350136"/>
                  </a:lnTo>
                  <a:lnTo>
                    <a:pt x="224916" y="1350136"/>
                  </a:lnTo>
                  <a:lnTo>
                    <a:pt x="179577" y="1345564"/>
                  </a:lnTo>
                  <a:lnTo>
                    <a:pt x="137413" y="1332483"/>
                  </a:lnTo>
                  <a:lnTo>
                    <a:pt x="99186" y="1311655"/>
                  </a:lnTo>
                  <a:lnTo>
                    <a:pt x="65912" y="1284223"/>
                  </a:lnTo>
                  <a:lnTo>
                    <a:pt x="38353" y="1250949"/>
                  </a:lnTo>
                  <a:lnTo>
                    <a:pt x="17652" y="1212722"/>
                  </a:lnTo>
                  <a:lnTo>
                    <a:pt x="4572" y="1170431"/>
                  </a:lnTo>
                  <a:lnTo>
                    <a:pt x="0" y="1125092"/>
                  </a:lnTo>
                  <a:lnTo>
                    <a:pt x="0" y="225043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917051" y="3338321"/>
            <a:ext cx="1139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60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Feature Extraction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45408" y="1850135"/>
            <a:ext cx="6844665" cy="4348480"/>
            <a:chOff x="3645408" y="1850135"/>
            <a:chExt cx="6844665" cy="434848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5408" y="1926335"/>
              <a:ext cx="624839" cy="40843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89604" y="194919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90366" y="1949957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400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998">
              <a:solidFill>
                <a:srgbClr val="7681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8276" y="1872995"/>
              <a:ext cx="624840" cy="4069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063996" y="189433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64758" y="1895093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399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998">
              <a:solidFill>
                <a:srgbClr val="7681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60764" y="1933955"/>
              <a:ext cx="513587" cy="110337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12579" y="1949195"/>
              <a:ext cx="410209" cy="1011555"/>
            </a:xfrm>
            <a:custGeom>
              <a:avLst/>
              <a:gdLst/>
              <a:ahLst/>
              <a:cxnLst/>
              <a:rect l="l" t="t" r="r" b="b"/>
              <a:pathLst>
                <a:path w="410209" h="1011555">
                  <a:moveTo>
                    <a:pt x="307467" y="0"/>
                  </a:moveTo>
                  <a:lnTo>
                    <a:pt x="102489" y="0"/>
                  </a:lnTo>
                  <a:lnTo>
                    <a:pt x="102489" y="806068"/>
                  </a:lnTo>
                  <a:lnTo>
                    <a:pt x="0" y="806068"/>
                  </a:lnTo>
                  <a:lnTo>
                    <a:pt x="204977" y="1011427"/>
                  </a:lnTo>
                  <a:lnTo>
                    <a:pt x="409955" y="806068"/>
                  </a:lnTo>
                  <a:lnTo>
                    <a:pt x="307467" y="806068"/>
                  </a:lnTo>
                  <a:lnTo>
                    <a:pt x="307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13342" y="1949957"/>
              <a:ext cx="410209" cy="1011555"/>
            </a:xfrm>
            <a:custGeom>
              <a:avLst/>
              <a:gdLst/>
              <a:ahLst/>
              <a:cxnLst/>
              <a:rect l="l" t="t" r="r" b="b"/>
              <a:pathLst>
                <a:path w="410209" h="1011555">
                  <a:moveTo>
                    <a:pt x="0" y="806068"/>
                  </a:moveTo>
                  <a:lnTo>
                    <a:pt x="102488" y="806068"/>
                  </a:lnTo>
                  <a:lnTo>
                    <a:pt x="102488" y="0"/>
                  </a:lnTo>
                  <a:lnTo>
                    <a:pt x="307466" y="0"/>
                  </a:lnTo>
                  <a:lnTo>
                    <a:pt x="307466" y="806068"/>
                  </a:lnTo>
                  <a:lnTo>
                    <a:pt x="409955" y="806068"/>
                  </a:lnTo>
                  <a:lnTo>
                    <a:pt x="204977" y="1011427"/>
                  </a:lnTo>
                  <a:lnTo>
                    <a:pt x="0" y="806068"/>
                  </a:lnTo>
                  <a:close/>
                </a:path>
              </a:pathLst>
            </a:custGeom>
            <a:ln w="9998">
              <a:solidFill>
                <a:srgbClr val="006F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9536" y="1850135"/>
              <a:ext cx="1054607" cy="40843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523732" y="1872995"/>
              <a:ext cx="962660" cy="304800"/>
            </a:xfrm>
            <a:custGeom>
              <a:avLst/>
              <a:gdLst/>
              <a:ahLst/>
              <a:cxnLst/>
              <a:rect l="l" t="t" r="r" b="b"/>
              <a:pathLst>
                <a:path w="962659" h="304800">
                  <a:moveTo>
                    <a:pt x="810387" y="0"/>
                  </a:moveTo>
                  <a:lnTo>
                    <a:pt x="810387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810387" y="228600"/>
                  </a:lnTo>
                  <a:lnTo>
                    <a:pt x="810387" y="304800"/>
                  </a:lnTo>
                  <a:lnTo>
                    <a:pt x="962660" y="152400"/>
                  </a:lnTo>
                  <a:lnTo>
                    <a:pt x="81038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524494" y="1873757"/>
              <a:ext cx="962660" cy="304800"/>
            </a:xfrm>
            <a:custGeom>
              <a:avLst/>
              <a:gdLst/>
              <a:ahLst/>
              <a:cxnLst/>
              <a:rect l="l" t="t" r="r" b="b"/>
              <a:pathLst>
                <a:path w="962659" h="304800">
                  <a:moveTo>
                    <a:pt x="0" y="76200"/>
                  </a:moveTo>
                  <a:lnTo>
                    <a:pt x="810386" y="76200"/>
                  </a:lnTo>
                  <a:lnTo>
                    <a:pt x="810386" y="0"/>
                  </a:lnTo>
                  <a:lnTo>
                    <a:pt x="962659" y="152400"/>
                  </a:lnTo>
                  <a:lnTo>
                    <a:pt x="810386" y="304800"/>
                  </a:lnTo>
                  <a:lnTo>
                    <a:pt x="81038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998">
              <a:solidFill>
                <a:srgbClr val="7681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84108" y="4777735"/>
              <a:ext cx="2005583" cy="142037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523732" y="4779263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1701038" y="0"/>
                  </a:moveTo>
                  <a:lnTo>
                    <a:pt x="224917" y="0"/>
                  </a:lnTo>
                  <a:lnTo>
                    <a:pt x="179577" y="4572"/>
                  </a:lnTo>
                  <a:lnTo>
                    <a:pt x="137414" y="17653"/>
                  </a:lnTo>
                  <a:lnTo>
                    <a:pt x="99187" y="38481"/>
                  </a:lnTo>
                  <a:lnTo>
                    <a:pt x="65913" y="65912"/>
                  </a:lnTo>
                  <a:lnTo>
                    <a:pt x="38353" y="99187"/>
                  </a:lnTo>
                  <a:lnTo>
                    <a:pt x="17652" y="137413"/>
                  </a:lnTo>
                  <a:lnTo>
                    <a:pt x="4572" y="179578"/>
                  </a:lnTo>
                  <a:lnTo>
                    <a:pt x="0" y="224917"/>
                  </a:lnTo>
                  <a:lnTo>
                    <a:pt x="0" y="1125016"/>
                  </a:lnTo>
                  <a:lnTo>
                    <a:pt x="4572" y="1170355"/>
                  </a:lnTo>
                  <a:lnTo>
                    <a:pt x="17652" y="1212596"/>
                  </a:lnTo>
                  <a:lnTo>
                    <a:pt x="38353" y="1250810"/>
                  </a:lnTo>
                  <a:lnTo>
                    <a:pt x="65913" y="1284122"/>
                  </a:lnTo>
                  <a:lnTo>
                    <a:pt x="99187" y="1311592"/>
                  </a:lnTo>
                  <a:lnTo>
                    <a:pt x="137414" y="1332344"/>
                  </a:lnTo>
                  <a:lnTo>
                    <a:pt x="179577" y="1345450"/>
                  </a:lnTo>
                  <a:lnTo>
                    <a:pt x="224917" y="1350022"/>
                  </a:lnTo>
                  <a:lnTo>
                    <a:pt x="1701038" y="1350022"/>
                  </a:lnTo>
                  <a:lnTo>
                    <a:pt x="1746377" y="1345450"/>
                  </a:lnTo>
                  <a:lnTo>
                    <a:pt x="1788541" y="1332344"/>
                  </a:lnTo>
                  <a:lnTo>
                    <a:pt x="1826768" y="1311592"/>
                  </a:lnTo>
                  <a:lnTo>
                    <a:pt x="1860042" y="1284122"/>
                  </a:lnTo>
                  <a:lnTo>
                    <a:pt x="1887601" y="1250810"/>
                  </a:lnTo>
                  <a:lnTo>
                    <a:pt x="1908302" y="1212596"/>
                  </a:lnTo>
                  <a:lnTo>
                    <a:pt x="1921383" y="1170355"/>
                  </a:lnTo>
                  <a:lnTo>
                    <a:pt x="1925954" y="1125016"/>
                  </a:lnTo>
                  <a:lnTo>
                    <a:pt x="1925954" y="224917"/>
                  </a:lnTo>
                  <a:lnTo>
                    <a:pt x="1921383" y="179578"/>
                  </a:lnTo>
                  <a:lnTo>
                    <a:pt x="1908302" y="137413"/>
                  </a:lnTo>
                  <a:lnTo>
                    <a:pt x="1887601" y="99187"/>
                  </a:lnTo>
                  <a:lnTo>
                    <a:pt x="1860042" y="65912"/>
                  </a:lnTo>
                  <a:lnTo>
                    <a:pt x="1826768" y="38481"/>
                  </a:lnTo>
                  <a:lnTo>
                    <a:pt x="1788541" y="17653"/>
                  </a:lnTo>
                  <a:lnTo>
                    <a:pt x="1746377" y="4572"/>
                  </a:lnTo>
                  <a:lnTo>
                    <a:pt x="1701038" y="0"/>
                  </a:lnTo>
                  <a:close/>
                </a:path>
              </a:pathLst>
            </a:custGeom>
            <a:solidFill>
              <a:srgbClr val="7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24494" y="4780025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0" y="224917"/>
                  </a:moveTo>
                  <a:lnTo>
                    <a:pt x="4572" y="179578"/>
                  </a:lnTo>
                  <a:lnTo>
                    <a:pt x="17652" y="137413"/>
                  </a:lnTo>
                  <a:lnTo>
                    <a:pt x="38353" y="99187"/>
                  </a:lnTo>
                  <a:lnTo>
                    <a:pt x="65912" y="65912"/>
                  </a:lnTo>
                  <a:lnTo>
                    <a:pt x="99186" y="38481"/>
                  </a:lnTo>
                  <a:lnTo>
                    <a:pt x="137413" y="17653"/>
                  </a:lnTo>
                  <a:lnTo>
                    <a:pt x="179577" y="4572"/>
                  </a:lnTo>
                  <a:lnTo>
                    <a:pt x="224916" y="0"/>
                  </a:lnTo>
                  <a:lnTo>
                    <a:pt x="1701037" y="0"/>
                  </a:lnTo>
                  <a:lnTo>
                    <a:pt x="1746377" y="4572"/>
                  </a:lnTo>
                  <a:lnTo>
                    <a:pt x="1788540" y="17653"/>
                  </a:lnTo>
                  <a:lnTo>
                    <a:pt x="1826767" y="38481"/>
                  </a:lnTo>
                  <a:lnTo>
                    <a:pt x="1860041" y="65912"/>
                  </a:lnTo>
                  <a:lnTo>
                    <a:pt x="1887601" y="99187"/>
                  </a:lnTo>
                  <a:lnTo>
                    <a:pt x="1908302" y="137413"/>
                  </a:lnTo>
                  <a:lnTo>
                    <a:pt x="1921382" y="179578"/>
                  </a:lnTo>
                  <a:lnTo>
                    <a:pt x="1925954" y="224917"/>
                  </a:lnTo>
                  <a:lnTo>
                    <a:pt x="1925954" y="1125016"/>
                  </a:lnTo>
                  <a:lnTo>
                    <a:pt x="1921382" y="1170355"/>
                  </a:lnTo>
                  <a:lnTo>
                    <a:pt x="1908302" y="1212596"/>
                  </a:lnTo>
                  <a:lnTo>
                    <a:pt x="1887601" y="1250810"/>
                  </a:lnTo>
                  <a:lnTo>
                    <a:pt x="1860041" y="1284122"/>
                  </a:lnTo>
                  <a:lnTo>
                    <a:pt x="1826767" y="1311592"/>
                  </a:lnTo>
                  <a:lnTo>
                    <a:pt x="1788540" y="1332344"/>
                  </a:lnTo>
                  <a:lnTo>
                    <a:pt x="1746377" y="1345450"/>
                  </a:lnTo>
                  <a:lnTo>
                    <a:pt x="1701037" y="1350022"/>
                  </a:lnTo>
                  <a:lnTo>
                    <a:pt x="224916" y="1350022"/>
                  </a:lnTo>
                  <a:lnTo>
                    <a:pt x="179577" y="1345450"/>
                  </a:lnTo>
                  <a:lnTo>
                    <a:pt x="137413" y="1332344"/>
                  </a:lnTo>
                  <a:lnTo>
                    <a:pt x="99186" y="1311592"/>
                  </a:lnTo>
                  <a:lnTo>
                    <a:pt x="65912" y="1284122"/>
                  </a:lnTo>
                  <a:lnTo>
                    <a:pt x="38353" y="1250810"/>
                  </a:lnTo>
                  <a:lnTo>
                    <a:pt x="17652" y="1212596"/>
                  </a:lnTo>
                  <a:lnTo>
                    <a:pt x="4572" y="1170355"/>
                  </a:lnTo>
                  <a:lnTo>
                    <a:pt x="0" y="1125016"/>
                  </a:lnTo>
                  <a:lnTo>
                    <a:pt x="0" y="224917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788145" y="4882642"/>
            <a:ext cx="1410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Object Recognition/ Machine Learning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763267" y="891539"/>
            <a:ext cx="10069195" cy="4872355"/>
            <a:chOff x="1763267" y="891539"/>
            <a:chExt cx="10069195" cy="4872355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97924" y="4280916"/>
              <a:ext cx="391668" cy="67818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349739" y="4294631"/>
              <a:ext cx="287655" cy="588010"/>
            </a:xfrm>
            <a:custGeom>
              <a:avLst/>
              <a:gdLst/>
              <a:ahLst/>
              <a:cxnLst/>
              <a:rect l="l" t="t" r="r" b="b"/>
              <a:pathLst>
                <a:path w="287654" h="588010">
                  <a:moveTo>
                    <a:pt x="215645" y="0"/>
                  </a:moveTo>
                  <a:lnTo>
                    <a:pt x="71881" y="0"/>
                  </a:lnTo>
                  <a:lnTo>
                    <a:pt x="71881" y="443738"/>
                  </a:lnTo>
                  <a:lnTo>
                    <a:pt x="0" y="443738"/>
                  </a:lnTo>
                  <a:lnTo>
                    <a:pt x="143890" y="588010"/>
                  </a:lnTo>
                  <a:lnTo>
                    <a:pt x="287527" y="443738"/>
                  </a:lnTo>
                  <a:lnTo>
                    <a:pt x="215645" y="443738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50501" y="4295393"/>
              <a:ext cx="287655" cy="588010"/>
            </a:xfrm>
            <a:custGeom>
              <a:avLst/>
              <a:gdLst/>
              <a:ahLst/>
              <a:cxnLst/>
              <a:rect l="l" t="t" r="r" b="b"/>
              <a:pathLst>
                <a:path w="287654" h="588010">
                  <a:moveTo>
                    <a:pt x="0" y="443737"/>
                  </a:moveTo>
                  <a:lnTo>
                    <a:pt x="71881" y="443737"/>
                  </a:lnTo>
                  <a:lnTo>
                    <a:pt x="71881" y="0"/>
                  </a:lnTo>
                  <a:lnTo>
                    <a:pt x="215646" y="0"/>
                  </a:lnTo>
                  <a:lnTo>
                    <a:pt x="215646" y="443737"/>
                  </a:lnTo>
                  <a:lnTo>
                    <a:pt x="287527" y="443737"/>
                  </a:lnTo>
                  <a:lnTo>
                    <a:pt x="143891" y="588009"/>
                  </a:lnTo>
                  <a:lnTo>
                    <a:pt x="0" y="443737"/>
                  </a:lnTo>
                  <a:close/>
                </a:path>
              </a:pathLst>
            </a:custGeom>
            <a:ln w="9998">
              <a:solidFill>
                <a:srgbClr val="006F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63267" y="3488435"/>
              <a:ext cx="3182111" cy="220065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18176" y="3508247"/>
              <a:ext cx="3026664" cy="225552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01511" y="891539"/>
              <a:ext cx="5830824" cy="505967"/>
            </a:xfrm>
            <a:prstGeom prst="rect">
              <a:avLst/>
            </a:prstGeom>
          </p:spPr>
        </p:pic>
      </p:grp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845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b="1" spc="-220" dirty="0">
                <a:latin typeface="Arial"/>
                <a:cs typeface="Arial"/>
              </a:rPr>
              <a:t>Recollect-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275" dirty="0">
                <a:latin typeface="Arial"/>
                <a:cs typeface="Arial"/>
              </a:rPr>
              <a:t>Conventional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305" dirty="0">
                <a:latin typeface="Arial"/>
                <a:cs typeface="Arial"/>
              </a:rPr>
              <a:t>methods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843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z="4000" b="1" spc="-315" dirty="0">
                <a:solidFill>
                  <a:srgbClr val="C00000"/>
                </a:solidFill>
                <a:latin typeface="Arial"/>
                <a:cs typeface="Arial"/>
              </a:rPr>
              <a:t>Feature</a:t>
            </a:r>
            <a:r>
              <a:rPr sz="40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45" dirty="0">
                <a:solidFill>
                  <a:srgbClr val="C00000"/>
                </a:solidFill>
                <a:latin typeface="Arial"/>
                <a:cs typeface="Arial"/>
              </a:rPr>
              <a:t>Extraction</a:t>
            </a:r>
            <a:r>
              <a:rPr sz="4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4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25" dirty="0">
                <a:solidFill>
                  <a:srgbClr val="C00000"/>
                </a:solidFill>
                <a:latin typeface="Arial"/>
                <a:cs typeface="Arial"/>
              </a:rPr>
              <a:t>Handcrafted</a:t>
            </a:r>
            <a:r>
              <a:rPr sz="40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270" dirty="0">
                <a:solidFill>
                  <a:srgbClr val="C00000"/>
                </a:solidFill>
                <a:latin typeface="Arial"/>
                <a:cs typeface="Arial"/>
              </a:rPr>
              <a:t>features)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75" y="1075955"/>
            <a:ext cx="8696325" cy="4782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316433"/>
            <a:ext cx="466280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254" dirty="0">
                <a:latin typeface="Arial"/>
                <a:cs typeface="Arial"/>
              </a:rPr>
              <a:t>Convolutional</a:t>
            </a:r>
            <a:r>
              <a:rPr sz="2900" b="1" spc="-95" dirty="0">
                <a:latin typeface="Arial"/>
                <a:cs typeface="Arial"/>
              </a:rPr>
              <a:t> </a:t>
            </a:r>
            <a:r>
              <a:rPr sz="2900" b="1" spc="-215" dirty="0">
                <a:latin typeface="Arial"/>
                <a:cs typeface="Arial"/>
              </a:rPr>
              <a:t>Neural</a:t>
            </a:r>
            <a:r>
              <a:rPr sz="2900" b="1" spc="-60" dirty="0">
                <a:latin typeface="Arial"/>
                <a:cs typeface="Arial"/>
              </a:rPr>
              <a:t> </a:t>
            </a:r>
            <a:r>
              <a:rPr sz="2900" b="1" spc="-220" dirty="0">
                <a:latin typeface="Arial"/>
                <a:cs typeface="Arial"/>
              </a:rPr>
              <a:t>Networks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82" y="1405108"/>
            <a:ext cx="10896963" cy="41525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31991" y="330834"/>
            <a:ext cx="4919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Why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not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let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network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learn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multiple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5184" y="5431332"/>
            <a:ext cx="5637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Features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C00000"/>
                </a:solidFill>
                <a:latin typeface="Arial"/>
                <a:cs typeface="Arial"/>
              </a:rPr>
              <a:t>handcrafted-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C00000"/>
                </a:solidFill>
                <a:latin typeface="Arial"/>
                <a:cs typeface="Arial"/>
              </a:rPr>
              <a:t>No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C00000"/>
                </a:solidFill>
                <a:latin typeface="Arial"/>
                <a:cs typeface="Arial"/>
              </a:rPr>
              <a:t>explicit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feature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C00000"/>
                </a:solidFill>
                <a:latin typeface="Arial"/>
                <a:cs typeface="Arial"/>
              </a:rPr>
              <a:t>extraction.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Convolution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applied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directly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input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image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!!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26008"/>
            <a:ext cx="12192000" cy="6032500"/>
            <a:chOff x="0" y="826008"/>
            <a:chExt cx="12192000" cy="6032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19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269" y="1528175"/>
              <a:ext cx="11001908" cy="48056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4895" y="826008"/>
              <a:ext cx="3621024" cy="157276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252806"/>
            <a:ext cx="466280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254" dirty="0">
                <a:latin typeface="Arial"/>
                <a:cs typeface="Arial"/>
              </a:rPr>
              <a:t>Convolutional</a:t>
            </a:r>
            <a:r>
              <a:rPr sz="2900" b="1" spc="-95" dirty="0">
                <a:latin typeface="Arial"/>
                <a:cs typeface="Arial"/>
              </a:rPr>
              <a:t> </a:t>
            </a:r>
            <a:r>
              <a:rPr sz="2900" b="1" spc="-215" dirty="0">
                <a:latin typeface="Arial"/>
                <a:cs typeface="Arial"/>
              </a:rPr>
              <a:t>Neural</a:t>
            </a:r>
            <a:r>
              <a:rPr sz="2900" b="1" spc="-60" dirty="0">
                <a:latin typeface="Arial"/>
                <a:cs typeface="Arial"/>
              </a:rPr>
              <a:t> </a:t>
            </a:r>
            <a:r>
              <a:rPr sz="2900" b="1" spc="-220" dirty="0">
                <a:latin typeface="Arial"/>
                <a:cs typeface="Arial"/>
              </a:rPr>
              <a:t>Networks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1991" y="330834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Why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not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let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network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learn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multiple </a:t>
            </a:r>
            <a:r>
              <a:rPr sz="1800" b="1" i="1" dirty="0">
                <a:latin typeface="Calibri"/>
                <a:cs typeface="Calibri"/>
              </a:rPr>
              <a:t>layers</a:t>
            </a:r>
            <a:r>
              <a:rPr sz="1800" b="1" i="1" spc="-7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feature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representations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633" y="4478528"/>
            <a:ext cx="27171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Wi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10" dirty="0">
                <a:latin typeface="Calibri"/>
                <a:cs typeface="Calibri"/>
              </a:rPr>
              <a:t> Hi=227x227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F=11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(96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filters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11x11) </a:t>
            </a:r>
            <a:r>
              <a:rPr sz="1800" b="1" dirty="0">
                <a:latin typeface="Calibri"/>
                <a:cs typeface="Calibri"/>
              </a:rPr>
              <a:t>D=3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(Depth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input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same</a:t>
            </a:r>
            <a:r>
              <a:rPr sz="1800" b="1" spc="-25" dirty="0">
                <a:latin typeface="Calibri"/>
                <a:cs typeface="Calibri"/>
              </a:rPr>
              <a:t> as </a:t>
            </a:r>
            <a:r>
              <a:rPr sz="1800" b="1" dirty="0">
                <a:latin typeface="Calibri"/>
                <a:cs typeface="Calibri"/>
              </a:rPr>
              <a:t>depth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 </a:t>
            </a:r>
            <a:r>
              <a:rPr sz="1800" b="1" spc="-10" dirty="0">
                <a:latin typeface="Calibri"/>
                <a:cs typeface="Calibri"/>
              </a:rPr>
              <a:t>filter)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S=4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633" y="5850432"/>
            <a:ext cx="377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P=0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06773" y="4581905"/>
            <a:ext cx="3436620" cy="1178560"/>
          </a:xfrm>
          <a:custGeom>
            <a:avLst/>
            <a:gdLst/>
            <a:ahLst/>
            <a:cxnLst/>
            <a:rect l="l" t="t" r="r" b="b"/>
            <a:pathLst>
              <a:path w="3436620" h="1178560">
                <a:moveTo>
                  <a:pt x="0" y="1178052"/>
                </a:moveTo>
                <a:lnTo>
                  <a:pt x="3436620" y="1178052"/>
                </a:lnTo>
                <a:lnTo>
                  <a:pt x="3436620" y="0"/>
                </a:lnTo>
                <a:lnTo>
                  <a:pt x="0" y="0"/>
                </a:lnTo>
                <a:lnTo>
                  <a:pt x="0" y="1178052"/>
                </a:lnTo>
                <a:close/>
              </a:path>
            </a:pathLst>
          </a:custGeom>
          <a:ln w="4127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97705" y="4672329"/>
            <a:ext cx="447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Wo=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33189" y="4839334"/>
            <a:ext cx="981710" cy="15240"/>
          </a:xfrm>
          <a:custGeom>
            <a:avLst/>
            <a:gdLst/>
            <a:ahLst/>
            <a:cxnLst/>
            <a:rect l="l" t="t" r="r" b="b"/>
            <a:pathLst>
              <a:path w="981710" h="15239">
                <a:moveTo>
                  <a:pt x="981456" y="0"/>
                </a:moveTo>
                <a:lnTo>
                  <a:pt x="0" y="0"/>
                </a:lnTo>
                <a:lnTo>
                  <a:pt x="0" y="15239"/>
                </a:lnTo>
                <a:lnTo>
                  <a:pt x="981456" y="15239"/>
                </a:lnTo>
                <a:lnTo>
                  <a:pt x="981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33570" y="4599177"/>
            <a:ext cx="9956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(𝟐𝟐𝟕−𝟏𝟏+𝟎)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4005" y="4847589"/>
            <a:ext cx="1130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𝟒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5407" y="4672329"/>
            <a:ext cx="640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+1=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97705" y="5073141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Ho=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30140" y="5240146"/>
            <a:ext cx="981710" cy="15240"/>
          </a:xfrm>
          <a:custGeom>
            <a:avLst/>
            <a:gdLst/>
            <a:ahLst/>
            <a:cxnLst/>
            <a:rect l="l" t="t" r="r" b="b"/>
            <a:pathLst>
              <a:path w="981710" h="15239">
                <a:moveTo>
                  <a:pt x="981456" y="0"/>
                </a:moveTo>
                <a:lnTo>
                  <a:pt x="0" y="0"/>
                </a:lnTo>
                <a:lnTo>
                  <a:pt x="0" y="15239"/>
                </a:lnTo>
                <a:lnTo>
                  <a:pt x="981456" y="15239"/>
                </a:lnTo>
                <a:lnTo>
                  <a:pt x="981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30521" y="4999989"/>
            <a:ext cx="9956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(𝟐𝟐𝟕−𝟏𝟏+𝟎)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0958" y="5248402"/>
            <a:ext cx="1130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𝟒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12359" y="5073141"/>
            <a:ext cx="641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+1=</a:t>
            </a:r>
            <a:r>
              <a:rPr sz="1800" b="1" spc="-25" dirty="0">
                <a:latin typeface="Calibri"/>
                <a:cs typeface="Calibri"/>
              </a:rPr>
              <a:t> 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97705" y="5402072"/>
            <a:ext cx="2726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96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96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filters)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05266" y="653922"/>
            <a:ext cx="2997200" cy="120840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96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00">
              <a:latin typeface="Calibri"/>
              <a:cs typeface="Calibri"/>
            </a:endParaRPr>
          </a:p>
          <a:p>
            <a:pPr marR="216789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227x227</a:t>
            </a:r>
            <a:endParaRPr sz="1800">
              <a:latin typeface="Calibri"/>
              <a:cs typeface="Calibri"/>
            </a:endParaRPr>
          </a:p>
          <a:p>
            <a:pPr marL="125730" algn="ctr">
              <a:spcBef>
                <a:spcPts val="495"/>
              </a:spcBef>
            </a:pPr>
            <a:r>
              <a:rPr sz="1800" spc="-10" dirty="0">
                <a:latin typeface="Calibri"/>
                <a:cs typeface="Calibri"/>
              </a:rPr>
              <a:t>55x55</a:t>
            </a:r>
            <a:r>
              <a:rPr lang="en-US" spc="-10" dirty="0">
                <a:latin typeface="Calibri"/>
                <a:cs typeface="Calibri"/>
              </a:rPr>
              <a:t> (p=0, s=2)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35161" y="6004661"/>
            <a:ext cx="166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55x55x96 </a:t>
            </a:r>
            <a:r>
              <a:rPr sz="1800" spc="-10" dirty="0">
                <a:latin typeface="Calibri"/>
                <a:cs typeface="Calibri"/>
              </a:rPr>
              <a:t>volume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18789" y="5976315"/>
            <a:ext cx="395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always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72389"/>
            <a:ext cx="531622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b="1" spc="-275" dirty="0">
                <a:solidFill>
                  <a:srgbClr val="C00000"/>
                </a:solidFill>
                <a:latin typeface="Arial"/>
                <a:cs typeface="Arial"/>
              </a:rPr>
              <a:t>Sparse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C00000"/>
                </a:solidFill>
                <a:latin typeface="Arial"/>
                <a:cs typeface="Arial"/>
              </a:rPr>
              <a:t>Connectivity</a:t>
            </a:r>
            <a:r>
              <a:rPr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90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04" dirty="0">
                <a:solidFill>
                  <a:srgbClr val="C00000"/>
                </a:solidFill>
                <a:latin typeface="Arial"/>
                <a:cs typeface="Arial"/>
              </a:rPr>
              <a:t>Weight </a:t>
            </a:r>
            <a:r>
              <a:rPr b="1" spc="-254" dirty="0">
                <a:solidFill>
                  <a:srgbClr val="C00000"/>
                </a:solidFill>
                <a:latin typeface="Arial"/>
                <a:cs typeface="Arial"/>
              </a:rPr>
              <a:t>sharing</a:t>
            </a:r>
            <a:r>
              <a:rPr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6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445" dirty="0">
                <a:solidFill>
                  <a:srgbClr val="C00000"/>
                </a:solidFill>
                <a:latin typeface="Arial"/>
                <a:cs typeface="Arial"/>
              </a:rPr>
              <a:t>CNN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5" y="1318260"/>
            <a:ext cx="4724400" cy="45720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595443" y="285377"/>
            <a:ext cx="4133215" cy="3749040"/>
            <a:chOff x="6595443" y="285377"/>
            <a:chExt cx="4133215" cy="37490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5443" y="285377"/>
              <a:ext cx="4133196" cy="21625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8167" y="2357627"/>
              <a:ext cx="3971544" cy="1676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25751" y="5955588"/>
            <a:ext cx="2455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Fully</a:t>
            </a:r>
            <a:r>
              <a:rPr sz="1800" b="1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connected-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Deep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C00000"/>
                </a:solidFill>
                <a:latin typeface="Arial"/>
                <a:cs typeface="Arial"/>
              </a:rPr>
              <a:t>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54390" y="587121"/>
            <a:ext cx="2716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40" dirty="0">
                <a:solidFill>
                  <a:srgbClr val="C00000"/>
                </a:solidFill>
                <a:latin typeface="Arial"/>
                <a:cs typeface="Arial"/>
              </a:rPr>
              <a:t>CNN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80" dirty="0">
                <a:solidFill>
                  <a:srgbClr val="C00000"/>
                </a:solidFill>
                <a:latin typeface="Arial"/>
                <a:cs typeface="Arial"/>
              </a:rPr>
              <a:t>has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Sparse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connections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6377" y="2184854"/>
            <a:ext cx="1250315" cy="85979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225"/>
              </a:spcBef>
              <a:tabLst>
                <a:tab pos="470534" algn="l"/>
                <a:tab pos="796290" algn="l"/>
                <a:tab pos="1120775" algn="l"/>
              </a:tabLst>
            </a:pPr>
            <a:r>
              <a:rPr sz="1800" spc="-50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389890" algn="l"/>
                <a:tab pos="713740" algn="l"/>
                <a:tab pos="1039494" algn="l"/>
              </a:tabLst>
            </a:pPr>
            <a:r>
              <a:rPr sz="1800" spc="-50" dirty="0">
                <a:latin typeface="Calibri"/>
                <a:cs typeface="Calibri"/>
              </a:rPr>
              <a:t>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6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7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56878" y="2189479"/>
            <a:ext cx="1359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505459" algn="l"/>
              </a:tabLst>
            </a:pPr>
            <a:r>
              <a:rPr sz="1800" dirty="0">
                <a:latin typeface="Calibri"/>
                <a:cs typeface="Calibri"/>
              </a:rPr>
              <a:t>5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6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positions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92900" y="1831975"/>
            <a:ext cx="1870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  <a:tab pos="713740" algn="l"/>
                <a:tab pos="1039494" algn="l"/>
                <a:tab pos="1365250" algn="l"/>
                <a:tab pos="1741170" algn="l"/>
              </a:tabLst>
            </a:pPr>
            <a:r>
              <a:rPr sz="1800" spc="-50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09844" y="4207764"/>
            <a:ext cx="5859780" cy="2068195"/>
            <a:chOff x="5609844" y="4207764"/>
            <a:chExt cx="5859780" cy="206819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6804" y="4603341"/>
              <a:ext cx="4872655" cy="16724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9844" y="4207764"/>
              <a:ext cx="1068324" cy="99821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081009" y="4040885"/>
            <a:ext cx="1995170" cy="1324610"/>
          </a:xfrm>
          <a:prstGeom prst="rect">
            <a:avLst/>
          </a:prstGeom>
          <a:ln w="22225">
            <a:solidFill>
              <a:srgbClr val="4471C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 marR="189230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kernel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slides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same </a:t>
            </a:r>
            <a:r>
              <a:rPr sz="1600" dirty="0">
                <a:latin typeface="Calibri"/>
                <a:cs typeface="Calibri"/>
              </a:rPr>
              <a:t>weights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compute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at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neuron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49410" y="3699129"/>
            <a:ext cx="238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40" dirty="0">
                <a:solidFill>
                  <a:srgbClr val="C00000"/>
                </a:solidFill>
                <a:latin typeface="Arial"/>
                <a:cs typeface="Arial"/>
              </a:rPr>
              <a:t>CNN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does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C00000"/>
                </a:solidFill>
                <a:latin typeface="Arial"/>
                <a:cs typeface="Arial"/>
              </a:rPr>
              <a:t>weight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sharing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80" dirty="0">
                <a:solidFill>
                  <a:srgbClr val="C00000"/>
                </a:solidFill>
                <a:latin typeface="Arial"/>
                <a:cs typeface="Arial"/>
              </a:rPr>
              <a:t>Pooling</a:t>
            </a:r>
            <a:r>
              <a:rPr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185" dirty="0">
                <a:solidFill>
                  <a:srgbClr val="C00000"/>
                </a:solidFill>
                <a:latin typeface="Arial"/>
                <a:cs typeface="Arial"/>
              </a:rPr>
              <a:t>(Max</a:t>
            </a: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15" dirty="0">
                <a:solidFill>
                  <a:srgbClr val="C00000"/>
                </a:solidFill>
                <a:latin typeface="Arial"/>
                <a:cs typeface="Arial"/>
              </a:rPr>
              <a:t>Pooling)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2583179"/>
            <a:ext cx="6187440" cy="25171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0240" y="1118438"/>
            <a:ext cx="11329670" cy="16262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606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25" dirty="0">
                <a:solidFill>
                  <a:srgbClr val="585757"/>
                </a:solidFill>
                <a:latin typeface="Tahoma"/>
                <a:cs typeface="Tahoma"/>
              </a:rPr>
              <a:t>Pooling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layers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585757"/>
                </a:solidFill>
                <a:latin typeface="Tahoma"/>
                <a:cs typeface="Tahoma"/>
              </a:rPr>
              <a:t>are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50" dirty="0">
                <a:solidFill>
                  <a:srgbClr val="585757"/>
                </a:solidFill>
                <a:latin typeface="Tahoma"/>
                <a:cs typeface="Tahoma"/>
              </a:rPr>
              <a:t>generally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585757"/>
                </a:solidFill>
                <a:latin typeface="Tahoma"/>
                <a:cs typeface="Tahoma"/>
              </a:rPr>
              <a:t>used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585757"/>
                </a:solidFill>
                <a:latin typeface="Tahoma"/>
                <a:cs typeface="Tahoma"/>
              </a:rPr>
              <a:t>to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585757"/>
                </a:solidFill>
                <a:latin typeface="Tahoma"/>
                <a:cs typeface="Tahoma"/>
              </a:rPr>
              <a:t>reduce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05" dirty="0">
                <a:solidFill>
                  <a:srgbClr val="585757"/>
                </a:solidFill>
                <a:latin typeface="Tahoma"/>
                <a:cs typeface="Tahoma"/>
              </a:rPr>
              <a:t>size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585757"/>
                </a:solidFill>
                <a:latin typeface="Tahoma"/>
                <a:cs typeface="Tahoma"/>
              </a:rPr>
              <a:t>of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inputs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585757"/>
                </a:solidFill>
                <a:latin typeface="Tahoma"/>
                <a:cs typeface="Tahoma"/>
              </a:rPr>
              <a:t>and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585757"/>
                </a:solidFill>
                <a:latin typeface="Tahoma"/>
                <a:cs typeface="Tahoma"/>
              </a:rPr>
              <a:t>hence 	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speed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70" dirty="0">
                <a:solidFill>
                  <a:srgbClr val="585757"/>
                </a:solidFill>
                <a:latin typeface="Tahoma"/>
                <a:cs typeface="Tahoma"/>
              </a:rPr>
              <a:t>up</a:t>
            </a:r>
            <a:r>
              <a:rPr sz="2800" spc="-9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55" dirty="0">
                <a:solidFill>
                  <a:srgbClr val="585757"/>
                </a:solidFill>
                <a:latin typeface="Tahoma"/>
                <a:cs typeface="Tahoma"/>
              </a:rPr>
              <a:t>computation.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585757"/>
                </a:solidFill>
                <a:latin typeface="Tahoma"/>
                <a:cs typeface="Tahoma"/>
              </a:rPr>
              <a:t>Consider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245" dirty="0">
                <a:solidFill>
                  <a:srgbClr val="585757"/>
                </a:solidFill>
                <a:latin typeface="Tahoma"/>
                <a:cs typeface="Tahoma"/>
              </a:rPr>
              <a:t>a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585757"/>
                </a:solidFill>
                <a:latin typeface="Tahoma"/>
                <a:cs typeface="Tahoma"/>
              </a:rPr>
              <a:t>4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X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585757"/>
                </a:solidFill>
                <a:latin typeface="Tahoma"/>
                <a:cs typeface="Tahoma"/>
              </a:rPr>
              <a:t>4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50" dirty="0">
                <a:solidFill>
                  <a:srgbClr val="585757"/>
                </a:solidFill>
                <a:latin typeface="Tahoma"/>
                <a:cs typeface="Tahoma"/>
              </a:rPr>
              <a:t>matrix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as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585757"/>
                </a:solidFill>
                <a:latin typeface="Tahoma"/>
                <a:cs typeface="Tahoma"/>
              </a:rPr>
              <a:t>shown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below:</a:t>
            </a:r>
            <a:endParaRPr sz="2800">
              <a:latin typeface="Tahoma"/>
              <a:cs typeface="Tahoma"/>
            </a:endParaRPr>
          </a:p>
          <a:p>
            <a:pPr marL="5438140" marR="5080">
              <a:lnSpc>
                <a:spcPts val="2110"/>
              </a:lnSpc>
              <a:spcBef>
                <a:spcPts val="2005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Max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convolution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process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where</a:t>
            </a:r>
            <a:r>
              <a:rPr sz="18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Kernel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extracts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maximum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value</a:t>
            </a:r>
            <a:r>
              <a:rPr sz="1800" b="1" spc="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area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it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convolves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6920" y="3902709"/>
            <a:ext cx="533400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Max-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helps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extracting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low-level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features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like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edges,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points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782" y="5303901"/>
            <a:ext cx="10716260" cy="8426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Average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another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operation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that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calculates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average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value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patches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feature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map,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uses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it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create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downsampled</a:t>
            </a:r>
            <a:r>
              <a:rPr sz="18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(pooled)</a:t>
            </a:r>
            <a:r>
              <a:rPr sz="1800" b="1" spc="-4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feature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map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It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used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after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convolutional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layer.- 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Avg-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goes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smooth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features.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118438"/>
            <a:ext cx="10319385" cy="12319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65" dirty="0">
                <a:solidFill>
                  <a:srgbClr val="585757"/>
                </a:solidFill>
                <a:latin typeface="Tahoma"/>
                <a:cs typeface="Tahoma"/>
              </a:rPr>
              <a:t>In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245" dirty="0">
                <a:solidFill>
                  <a:srgbClr val="585757"/>
                </a:solidFill>
                <a:latin typeface="Tahoma"/>
                <a:cs typeface="Tahoma"/>
              </a:rPr>
              <a:t>a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585757"/>
                </a:solidFill>
                <a:latin typeface="Tahoma"/>
                <a:cs typeface="Tahoma"/>
              </a:rPr>
              <a:t>convolutional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5" dirty="0">
                <a:solidFill>
                  <a:srgbClr val="585757"/>
                </a:solidFill>
                <a:latin typeface="Tahoma"/>
                <a:cs typeface="Tahoma"/>
              </a:rPr>
              <a:t>network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75" dirty="0">
                <a:solidFill>
                  <a:srgbClr val="585757"/>
                </a:solidFill>
                <a:latin typeface="Tahoma"/>
                <a:cs typeface="Tahoma"/>
              </a:rPr>
              <a:t>(ConvNet),</a:t>
            </a:r>
            <a:r>
              <a:rPr sz="2800" spc="-3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5" dirty="0">
                <a:solidFill>
                  <a:srgbClr val="585757"/>
                </a:solidFill>
                <a:latin typeface="Tahoma"/>
                <a:cs typeface="Tahoma"/>
              </a:rPr>
              <a:t>there</a:t>
            </a:r>
            <a:r>
              <a:rPr sz="2800" spc="-4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585757"/>
                </a:solidFill>
                <a:latin typeface="Tahoma"/>
                <a:cs typeface="Tahoma"/>
              </a:rPr>
              <a:t>are</a:t>
            </a:r>
            <a:r>
              <a:rPr sz="2800" spc="-5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585757"/>
                </a:solidFill>
                <a:latin typeface="Tahoma"/>
                <a:cs typeface="Tahoma"/>
              </a:rPr>
              <a:t>basically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585757"/>
                </a:solidFill>
                <a:latin typeface="Tahoma"/>
                <a:cs typeface="Tahoma"/>
              </a:rPr>
              <a:t>three</a:t>
            </a:r>
            <a:r>
              <a:rPr sz="2800" spc="-4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585757"/>
                </a:solidFill>
                <a:latin typeface="Tahoma"/>
                <a:cs typeface="Tahoma"/>
              </a:rPr>
              <a:t>types</a:t>
            </a:r>
            <a:r>
              <a:rPr sz="2800" spc="-4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585757"/>
                </a:solidFill>
                <a:latin typeface="Tahoma"/>
                <a:cs typeface="Tahoma"/>
              </a:rPr>
              <a:t>of 	layers:</a:t>
            </a:r>
            <a:endParaRPr sz="2800">
              <a:latin typeface="Tahoma"/>
              <a:cs typeface="Tahoma"/>
            </a:endParaRPr>
          </a:p>
          <a:p>
            <a:pPr marL="697865" lvl="1" indent="-260350">
              <a:lnSpc>
                <a:spcPct val="100000"/>
              </a:lnSpc>
              <a:spcBef>
                <a:spcPts val="180"/>
              </a:spcBef>
              <a:buSzPct val="95833"/>
              <a:buAutoNum type="arabicPeriod"/>
              <a:tabLst>
                <a:tab pos="697865" algn="l"/>
              </a:tabLst>
            </a:pPr>
            <a:r>
              <a:rPr sz="2400" spc="-114" dirty="0">
                <a:solidFill>
                  <a:srgbClr val="585757"/>
                </a:solidFill>
                <a:latin typeface="Tahoma"/>
                <a:cs typeface="Tahoma"/>
              </a:rPr>
              <a:t>Convolution</a:t>
            </a:r>
            <a:r>
              <a:rPr sz="24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585757"/>
                </a:solidFill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439" y="2323289"/>
            <a:ext cx="2795270" cy="81153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665" indent="-240029">
              <a:lnSpc>
                <a:spcPct val="100000"/>
              </a:lnSpc>
              <a:spcBef>
                <a:spcPts val="310"/>
              </a:spcBef>
              <a:buSzPct val="87500"/>
              <a:buAutoNum type="arabicPeriod" startAt="2"/>
              <a:tabLst>
                <a:tab pos="240665" algn="l"/>
              </a:tabLst>
            </a:pPr>
            <a:r>
              <a:rPr sz="2400" spc="-100" dirty="0">
                <a:solidFill>
                  <a:srgbClr val="585757"/>
                </a:solidFill>
                <a:latin typeface="Tahoma"/>
                <a:cs typeface="Tahoma"/>
              </a:rPr>
              <a:t>Pooling</a:t>
            </a:r>
            <a:r>
              <a:rPr sz="24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585757"/>
                </a:solidFill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  <a:p>
            <a:pPr marL="240665" indent="-239395">
              <a:lnSpc>
                <a:spcPct val="100000"/>
              </a:lnSpc>
              <a:spcBef>
                <a:spcPts val="219"/>
              </a:spcBef>
              <a:buSzPct val="87500"/>
              <a:buAutoNum type="arabicPeriod" startAt="2"/>
              <a:tabLst>
                <a:tab pos="240665" algn="l"/>
              </a:tabLst>
            </a:pPr>
            <a:r>
              <a:rPr sz="2400" spc="-130" dirty="0">
                <a:solidFill>
                  <a:srgbClr val="585757"/>
                </a:solidFill>
                <a:latin typeface="Tahoma"/>
                <a:cs typeface="Tahoma"/>
              </a:rPr>
              <a:t>Fully</a:t>
            </a:r>
            <a:r>
              <a:rPr sz="24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585757"/>
                </a:solidFill>
                <a:latin typeface="Tahoma"/>
                <a:cs typeface="Tahoma"/>
              </a:rPr>
              <a:t>connected</a:t>
            </a:r>
            <a:r>
              <a:rPr sz="2400" spc="-4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585757"/>
                </a:solidFill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193542"/>
            <a:ext cx="114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5" dirty="0">
                <a:solidFill>
                  <a:srgbClr val="585757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80" dirty="0">
                <a:latin typeface="Arial"/>
                <a:cs typeface="Arial"/>
              </a:rPr>
              <a:t>Convolutional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235" dirty="0">
                <a:latin typeface="Arial"/>
                <a:cs typeface="Arial"/>
              </a:rPr>
              <a:t>Neural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285" dirty="0">
                <a:latin typeface="Arial"/>
                <a:cs typeface="Arial"/>
              </a:rPr>
              <a:t>Network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849" y="3319571"/>
            <a:ext cx="8972446" cy="28974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96459" y="2162302"/>
            <a:ext cx="54152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linearity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activation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functions-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Relu/Leaky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Relu.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H1=g(a1)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19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Different</a:t>
            </a:r>
            <a:r>
              <a:rPr spc="-55" dirty="0"/>
              <a:t> </a:t>
            </a:r>
            <a:r>
              <a:rPr dirty="0"/>
              <a:t>CNN</a:t>
            </a:r>
            <a:r>
              <a:rPr spc="-45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88868" y="-4430"/>
            <a:ext cx="3365500" cy="707390"/>
          </a:xfrm>
          <a:prstGeom prst="rect">
            <a:avLst/>
          </a:prstGeom>
          <a:ln w="41275">
            <a:solidFill>
              <a:srgbClr val="4471C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4940" marR="179070" indent="-64135">
              <a:lnSpc>
                <a:spcPct val="100000"/>
              </a:lnSpc>
              <a:spcBef>
                <a:spcPts val="300"/>
              </a:spcBef>
            </a:pP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Use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standard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tried</a:t>
            </a:r>
            <a:r>
              <a:rPr sz="20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tested 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architectures!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4" name="Picture 1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8405ACDF-DE71-8876-C013-7F40F75E6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8" y="804217"/>
            <a:ext cx="11937568" cy="55466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FCDB64-2A5B-B9D4-9E75-EB4CDFE7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1" y="221658"/>
            <a:ext cx="12057519" cy="584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34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white box&#10;&#10;AI-generated content may be incorrect.">
            <a:extLst>
              <a:ext uri="{FF2B5EF4-FFF2-40B4-BE49-F238E27FC236}">
                <a16:creationId xmlns:a16="http://schemas.microsoft.com/office/drawing/2014/main" id="{697EBAA4-AAFD-2DEC-DA2F-349919CAE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99" y="-3959"/>
            <a:ext cx="11851202" cy="634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75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723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solidFill>
                  <a:srgbClr val="C00000"/>
                </a:solidFill>
                <a:latin typeface="Arial"/>
                <a:cs typeface="Arial"/>
              </a:rPr>
              <a:t>ImageNet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C00000"/>
                </a:solidFill>
                <a:latin typeface="Arial"/>
                <a:cs typeface="Arial"/>
              </a:rPr>
              <a:t>Large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45" dirty="0">
                <a:solidFill>
                  <a:srgbClr val="C00000"/>
                </a:solidFill>
                <a:latin typeface="Arial"/>
                <a:cs typeface="Arial"/>
              </a:rPr>
              <a:t>Scale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54" dirty="0">
                <a:solidFill>
                  <a:srgbClr val="C00000"/>
                </a:solidFill>
                <a:latin typeface="Arial"/>
                <a:cs typeface="Arial"/>
              </a:rPr>
              <a:t>Visual</a:t>
            </a: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C00000"/>
                </a:solidFill>
                <a:latin typeface="Arial"/>
                <a:cs typeface="Arial"/>
              </a:rPr>
              <a:t>Recognition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54" dirty="0">
                <a:solidFill>
                  <a:srgbClr val="C00000"/>
                </a:solidFill>
                <a:latin typeface="Arial"/>
                <a:cs typeface="Arial"/>
              </a:rPr>
              <a:t>Challenge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00" dirty="0">
                <a:solidFill>
                  <a:srgbClr val="C00000"/>
                </a:solidFill>
                <a:latin typeface="Arial"/>
                <a:cs typeface="Arial"/>
              </a:rPr>
              <a:t>(ILSVRC)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08" y="1234978"/>
            <a:ext cx="11942349" cy="49195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8902" y="6055867"/>
            <a:ext cx="478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https://image-</a:t>
            </a:r>
            <a:r>
              <a:rPr sz="1800" spc="-10" dirty="0">
                <a:latin typeface="Calibri"/>
                <a:cs typeface="Calibri"/>
              </a:rPr>
              <a:t>net.org/challenges/LSVRC/index.php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649" y="2969278"/>
            <a:ext cx="254000" cy="913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Error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pc="-10" dirty="0"/>
              <a:t>LeNet-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First</a:t>
            </a:r>
            <a:r>
              <a:rPr spc="-10" dirty="0"/>
              <a:t> </a:t>
            </a:r>
            <a:r>
              <a:rPr dirty="0"/>
              <a:t>CNN</a:t>
            </a:r>
            <a:r>
              <a:rPr spc="-10" dirty="0"/>
              <a:t> Architecture</a:t>
            </a:r>
          </a:p>
          <a:p>
            <a:pPr marL="275590" marR="5080">
              <a:lnSpc>
                <a:spcPts val="1620"/>
              </a:lnSpc>
              <a:spcBef>
                <a:spcPts val="650"/>
              </a:spcBef>
            </a:pP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Earliest</a:t>
            </a:r>
            <a:r>
              <a:rPr sz="1400" spc="-7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pre-trained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models</a:t>
            </a:r>
            <a:r>
              <a:rPr sz="1400" spc="-7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proposed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by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Yann</a:t>
            </a:r>
            <a:r>
              <a:rPr sz="1400" spc="-7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LeCun</a:t>
            </a:r>
            <a:r>
              <a:rPr sz="1400" spc="-5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and</a:t>
            </a:r>
            <a:r>
              <a:rPr sz="1400" spc="-3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others</a:t>
            </a:r>
            <a:r>
              <a:rPr sz="1400" spc="-5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in</a:t>
            </a:r>
            <a:r>
              <a:rPr sz="1400" spc="-4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year</a:t>
            </a:r>
            <a:r>
              <a:rPr sz="1400" spc="-2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1998,</a:t>
            </a:r>
            <a:r>
              <a:rPr sz="1400" spc="-6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in</a:t>
            </a:r>
            <a:r>
              <a:rPr sz="1400" spc="-4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research</a:t>
            </a:r>
            <a:r>
              <a:rPr sz="1400" spc="-8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paper</a:t>
            </a:r>
            <a:r>
              <a:rPr sz="1400" spc="-2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Gradient-Based</a:t>
            </a:r>
            <a:r>
              <a:rPr sz="1400" u="sng" spc="-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Learning</a:t>
            </a:r>
            <a:r>
              <a:rPr sz="1400"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Applied</a:t>
            </a:r>
            <a:r>
              <a:rPr sz="1400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to</a:t>
            </a:r>
            <a:r>
              <a:rPr sz="1400" spc="-2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Document</a:t>
            </a:r>
            <a:r>
              <a:rPr sz="1400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Recognition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.</a:t>
            </a:r>
            <a:r>
              <a:rPr sz="1400" spc="-6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They</a:t>
            </a:r>
            <a:r>
              <a:rPr sz="1400" spc="-2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used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this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architecture</a:t>
            </a:r>
            <a:r>
              <a:rPr sz="1400" spc="-7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for</a:t>
            </a:r>
            <a:r>
              <a:rPr sz="1400" spc="-1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recognizing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handwritten</a:t>
            </a:r>
            <a:r>
              <a:rPr sz="1400" spc="-6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and</a:t>
            </a:r>
            <a:r>
              <a:rPr sz="1400" spc="-1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machine-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printed</a:t>
            </a:r>
            <a:r>
              <a:rPr sz="1400" spc="-5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characters.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1245" y="1509578"/>
            <a:ext cx="11812905" cy="3994150"/>
            <a:chOff x="281245" y="1509578"/>
            <a:chExt cx="11812905" cy="39941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245" y="1509578"/>
              <a:ext cx="11812318" cy="39935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7111" y="4509516"/>
              <a:ext cx="352043" cy="2377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0976" y="4747260"/>
              <a:ext cx="353568" cy="2377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9064" y="5970828"/>
            <a:ext cx="983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linearity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functions-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Relu/Leaky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Relu.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h1=g(a1)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3379" y="5232653"/>
            <a:ext cx="1033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6x5x5=150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9250" y="5601411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5x5x6x16=2400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203" y="5671515"/>
            <a:ext cx="395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always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white table&#10;&#10;AI-generated content may be incorrect.">
            <a:extLst>
              <a:ext uri="{FF2B5EF4-FFF2-40B4-BE49-F238E27FC236}">
                <a16:creationId xmlns:a16="http://schemas.microsoft.com/office/drawing/2014/main" id="{4CCEF311-4D5A-2015-97C8-16EE41D92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60" y="289060"/>
            <a:ext cx="10843646" cy="613781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7169855-C575-388F-05B0-26BC6DAA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86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766063"/>
            <a:ext cx="2488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Calculation</a:t>
            </a:r>
            <a:r>
              <a:rPr sz="1400" spc="-3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of</a:t>
            </a:r>
            <a:r>
              <a:rPr sz="1400" spc="-1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no</a:t>
            </a:r>
            <a:r>
              <a:rPr sz="1400" spc="-2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of</a:t>
            </a:r>
            <a:r>
              <a:rPr sz="1400" spc="-3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A3123E"/>
                </a:solidFill>
                <a:latin typeface="Georgia"/>
                <a:cs typeface="Georgia"/>
              </a:rPr>
              <a:t>parameters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582" y="103708"/>
            <a:ext cx="610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LeNet-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First</a:t>
            </a:r>
            <a:r>
              <a:rPr spc="-10" dirty="0"/>
              <a:t> </a:t>
            </a:r>
            <a:r>
              <a:rPr dirty="0"/>
              <a:t>CNN</a:t>
            </a:r>
            <a:r>
              <a:rPr spc="-3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44" y="1558657"/>
            <a:ext cx="1447134" cy="6854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9915" y="2431796"/>
            <a:ext cx="31502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25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S=1,F=5,K=6 W0=(32+0-5)/1+1=28,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28x28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20" dirty="0">
                <a:latin typeface="Calibri"/>
                <a:cs typeface="Calibri"/>
              </a:rPr>
              <a:t> 5x5)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No: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5x5x6=150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915" y="4077970"/>
            <a:ext cx="30518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[Comparing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fully</a:t>
            </a:r>
            <a:r>
              <a:rPr sz="1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connected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Flatten</a:t>
            </a:r>
            <a:r>
              <a:rPr sz="1800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32x32</a:t>
            </a:r>
            <a:endParaRPr sz="1800">
              <a:latin typeface="Calibri"/>
              <a:cs typeface="Calibri"/>
            </a:endParaRPr>
          </a:p>
          <a:p>
            <a:pPr marL="12700" marR="1303020">
              <a:lnSpc>
                <a:spcPct val="10000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Flatten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28x28x6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Total</a:t>
            </a:r>
            <a:r>
              <a:rPr sz="18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parameters</a:t>
            </a:r>
            <a:r>
              <a:rPr sz="18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C00000"/>
                </a:solidFill>
                <a:latin typeface="Calibri"/>
                <a:cs typeface="Calibri"/>
              </a:rPr>
              <a:t>=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32x32x28x28x6]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40" y="1150111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35" dirty="0">
                <a:solidFill>
                  <a:srgbClr val="C00000"/>
                </a:solidFill>
                <a:latin typeface="Arial"/>
                <a:cs typeface="Arial"/>
              </a:rPr>
              <a:t>Conv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Layer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254" y="1012316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35" dirty="0">
                <a:solidFill>
                  <a:srgbClr val="C00000"/>
                </a:solidFill>
                <a:latin typeface="Arial"/>
                <a:cs typeface="Arial"/>
              </a:rPr>
              <a:t>Conv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Layer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4198" y="1431036"/>
            <a:ext cx="1523265" cy="6858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8085" y="2238067"/>
            <a:ext cx="33820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55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S=1,F=5,K=16 W0=(14+0-5)/1+1=10,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outputs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10x10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images(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5x5)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2254" y="462041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5x5x6x16=2400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5169" y="5013763"/>
            <a:ext cx="30537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[Comparing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fully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connected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14x14x6x10x10x16]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9193" y="696544"/>
            <a:ext cx="3752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FC1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03006" y="1236726"/>
            <a:ext cx="4197985" cy="4558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760" marR="13176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Flatten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5x5x16=400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neurons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size=120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120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Parameters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400x120+120=48120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ts val="2125"/>
              </a:lnSpc>
              <a:spcBef>
                <a:spcPts val="325"/>
              </a:spcBef>
            </a:pP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FC2</a:t>
            </a:r>
            <a:endParaRPr sz="1800">
              <a:latin typeface="Arial"/>
              <a:cs typeface="Arial"/>
            </a:endParaRPr>
          </a:p>
          <a:p>
            <a:pPr marL="238760" marR="1701164">
              <a:lnSpc>
                <a:spcPts val="216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size=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120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layer2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=84</a:t>
            </a:r>
            <a:endParaRPr sz="1800">
              <a:latin typeface="Calibri"/>
              <a:cs typeface="Calibri"/>
            </a:endParaRPr>
          </a:p>
          <a:p>
            <a:pPr marL="238760" marR="849630">
              <a:lnSpc>
                <a:spcPts val="216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84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20" dirty="0">
                <a:latin typeface="Calibri"/>
                <a:cs typeface="Calibri"/>
              </a:rPr>
              <a:t> layer </a:t>
            </a:r>
            <a:r>
              <a:rPr sz="1800" spc="-10" dirty="0">
                <a:latin typeface="Calibri"/>
                <a:cs typeface="Calibri"/>
              </a:rPr>
              <a:t>neuron=84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ts val="2090"/>
              </a:lnSpc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120x84+84=10164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  <a:spcBef>
                <a:spcPts val="944"/>
              </a:spcBef>
            </a:pP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FC3</a:t>
            </a:r>
            <a:endParaRPr sz="1800">
              <a:latin typeface="Arial"/>
              <a:cs typeface="Arial"/>
            </a:endParaRPr>
          </a:p>
          <a:p>
            <a:pPr marL="12700" marR="2043430">
              <a:lnSpc>
                <a:spcPts val="216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size=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84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layer2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=10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neuron=10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84x10=850</a:t>
            </a:r>
            <a:r>
              <a:rPr sz="1800" spc="-25" dirty="0">
                <a:latin typeface="Calibri"/>
                <a:cs typeface="Calibri"/>
              </a:rPr>
              <a:t> +10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22127-898B-EAA3-2026-F7B690773B51}"/>
              </a:ext>
            </a:extLst>
          </p:cNvPr>
          <p:cNvSpPr txBox="1"/>
          <p:nvPr/>
        </p:nvSpPr>
        <p:spPr>
          <a:xfrm>
            <a:off x="4068305" y="3648559"/>
            <a:ext cx="33321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So, number of parameters per filter = 5×5×6=150, Similarly 16 filters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556C05-CBDF-19B1-B910-F449A218978B}"/>
              </a:ext>
            </a:extLst>
          </p:cNvPr>
          <p:cNvSpPr txBox="1"/>
          <p:nvPr/>
        </p:nvSpPr>
        <p:spPr>
          <a:xfrm>
            <a:off x="3900407" y="5598763"/>
            <a:ext cx="357752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Filter dimensions = 5 × 5 × 6</a:t>
            </a:r>
            <a:br>
              <a:rPr lang="en-US" sz="1400"/>
            </a:br>
            <a:r>
              <a:rPr lang="en-US" sz="1400"/>
              <a:t>(because it slides over 6 input feature maps, each with its own 5×5 kernel)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747800-8ECD-AA3A-7183-472D11C76E94}"/>
              </a:ext>
            </a:extLst>
          </p:cNvPr>
          <p:cNvSpPr txBox="1"/>
          <p:nvPr/>
        </p:nvSpPr>
        <p:spPr>
          <a:xfrm>
            <a:off x="9415220" y="574729"/>
            <a:ext cx="3280475" cy="640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applies </a:t>
            </a:r>
            <a:r>
              <a:rPr lang="en-US" b="1"/>
              <a:t>120 filters</a:t>
            </a:r>
            <a:r>
              <a:rPr lang="en-US"/>
              <a:t>, each of size </a:t>
            </a:r>
            <a:r>
              <a:rPr lang="en-US" b="1"/>
              <a:t>5×5×16</a:t>
            </a:r>
            <a:r>
              <a:rPr lang="en-US"/>
              <a:t>, with stride 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DAC7-EF1A-BD10-6651-2DF76FAA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" y="1465472"/>
            <a:ext cx="4669672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Le-Net Architecture</a:t>
            </a:r>
          </a:p>
        </p:txBody>
      </p:sp>
      <p:pic>
        <p:nvPicPr>
          <p:cNvPr id="4" name="Picture 3" descr="A white paper with black and yellow text&#10;&#10;AI-generated content may be incorrect.">
            <a:extLst>
              <a:ext uri="{FF2B5EF4-FFF2-40B4-BE49-F238E27FC236}">
                <a16:creationId xmlns:a16="http://schemas.microsoft.com/office/drawing/2014/main" id="{BC95E404-F088-9863-C06E-E52BF92A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015" y="5165"/>
            <a:ext cx="4958004" cy="633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33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66243"/>
            <a:ext cx="6560820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How</a:t>
            </a:r>
            <a:r>
              <a:rPr spc="-2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train</a:t>
            </a:r>
            <a:r>
              <a:rPr spc="-4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Convolutional</a:t>
            </a:r>
            <a:r>
              <a:rPr spc="-55" dirty="0"/>
              <a:t> </a:t>
            </a:r>
            <a:r>
              <a:rPr spc="-10" dirty="0"/>
              <a:t>Neural 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934211"/>
            <a:ext cx="6143244" cy="2577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704" y="3715511"/>
            <a:ext cx="5926836" cy="24155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4186" y="691895"/>
            <a:ext cx="4678236" cy="33055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65185" y="4815916"/>
            <a:ext cx="30137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Deep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frameworks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optimized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zero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weight calculations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0" dirty="0">
                <a:latin typeface="Calibri"/>
                <a:cs typeface="Calibri"/>
              </a:rPr>
              <a:t> storage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2245</Words>
  <Application>Microsoft Office PowerPoint</Application>
  <PresentationFormat>Widescreen</PresentationFormat>
  <Paragraphs>281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Limitations of Feedforward Neural Networks (FNNs) for Images</vt:lpstr>
      <vt:lpstr>PowerPoint Presentation</vt:lpstr>
      <vt:lpstr>Convolution operation in images</vt:lpstr>
      <vt:lpstr>PowerPoint Presentation</vt:lpstr>
      <vt:lpstr>Convolution operation in images</vt:lpstr>
      <vt:lpstr>Convolution operation in images</vt:lpstr>
      <vt:lpstr>2D convolution</vt:lpstr>
      <vt:lpstr>Convolution</vt:lpstr>
      <vt:lpstr>3D Convolution</vt:lpstr>
      <vt:lpstr>Numerical Example</vt:lpstr>
      <vt:lpstr>PowerPoint Presentation</vt:lpstr>
      <vt:lpstr>PowerPoint Presentation</vt:lpstr>
      <vt:lpstr>3D Convolution</vt:lpstr>
      <vt:lpstr>How to compute W0,H0,D0?</vt:lpstr>
      <vt:lpstr>No padding- size of ouput reduce</vt:lpstr>
      <vt:lpstr>Padding</vt:lpstr>
      <vt:lpstr>Strided Convolutions</vt:lpstr>
      <vt:lpstr>Stride and padding</vt:lpstr>
      <vt:lpstr>Convolutions Over Volume</vt:lpstr>
      <vt:lpstr>Recollect- Conventional methods</vt:lpstr>
      <vt:lpstr>Feature Extraction ( Handcrafted features)</vt:lpstr>
      <vt:lpstr>Convolutional Neural Networks</vt:lpstr>
      <vt:lpstr>Convolutional Neural Networks</vt:lpstr>
      <vt:lpstr>Sparse Connectivity and Weight sharing of CNN</vt:lpstr>
      <vt:lpstr>Pooling (Max Pooling)</vt:lpstr>
      <vt:lpstr>Convolutional Neural Network</vt:lpstr>
      <vt:lpstr>Different CNN Architectures</vt:lpstr>
      <vt:lpstr>PowerPoint Presentation</vt:lpstr>
      <vt:lpstr>PowerPoint Presentation</vt:lpstr>
      <vt:lpstr>ImageNet Large Scale Visual Recognition Challenge (ILSVRC)</vt:lpstr>
      <vt:lpstr>LeNet-5 – First CNN Architecture Earliest pre-trained models proposed by Yann LeCun and others in the year 1998, in the research paper Gradient-Based Learning Applied to Document Recognition. They used this architecture for recognizing the handwritten and machine-printed characters.</vt:lpstr>
      <vt:lpstr>PowerPoint Presentation</vt:lpstr>
      <vt:lpstr>LeNet-5 – First CNN Architecture</vt:lpstr>
      <vt:lpstr>Le-Net Architecture</vt:lpstr>
      <vt:lpstr>How to train a Convolutional Neural Network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 S</dc:creator>
  <cp:lastModifiedBy>saraths</cp:lastModifiedBy>
  <cp:revision>146</cp:revision>
  <dcterms:created xsi:type="dcterms:W3CDTF">2025-02-27T04:48:20Z</dcterms:created>
  <dcterms:modified xsi:type="dcterms:W3CDTF">2025-10-15T04:22:36Z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2025-02-27T00:00:00Z</vt:filetime>
  </property>
  <property fmtid="{D5CDD505-2E9C-101B-9397-08002B2CF9AE}" pid="5" name="Producer">
    <vt:lpwstr>Microsoft® PowerPoint® for Microsoft 365</vt:lpwstr>
  </property>
</Properties>
</file>