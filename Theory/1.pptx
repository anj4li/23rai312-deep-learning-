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30"/>
  </p:notesMasterIdLst>
  <p:sldIdLst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9" r:id="rId21"/>
    <p:sldId id="280" r:id="rId22"/>
    <p:sldId id="285" r:id="rId23"/>
    <p:sldId id="286" r:id="rId24"/>
    <p:sldId id="287" r:id="rId25"/>
    <p:sldId id="289" r:id="rId26"/>
    <p:sldId id="292" r:id="rId27"/>
    <p:sldId id="293" r:id="rId28"/>
    <p:sldId id="29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CB9B5-282C-0BC1-8413-9D3209B242BA}" v="121" dt="2025-08-13T04:19:42.207"/>
    <p1510:client id="{44F9971D-CB0B-D628-132A-A7BAA90E0A60}" v="6" dt="2025-08-12T10:41:49.990"/>
    <p1510:client id="{A6DDF451-C644-DA15-B9D1-F2889AA07CC7}" v="43" dt="2025-08-14T04:55:33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44F9971D-CB0B-D628-132A-A7BAA90E0A60}"/>
    <pc:docChg chg="modSld">
      <pc:chgData name="saraths" userId="S::saraths@am.amrita.edu::244d0ad9-751b-45dc-a37d-eb545e66f5d8" providerId="AD" clId="Web-{44F9971D-CB0B-D628-132A-A7BAA90E0A60}" dt="2025-08-12T10:41:42.474" v="1" actId="20577"/>
      <pc:docMkLst>
        <pc:docMk/>
      </pc:docMkLst>
      <pc:sldChg chg="modSp">
        <pc:chgData name="saraths" userId="S::saraths@am.amrita.edu::244d0ad9-751b-45dc-a37d-eb545e66f5d8" providerId="AD" clId="Web-{44F9971D-CB0B-D628-132A-A7BAA90E0A60}" dt="2025-08-12T10:41:42.474" v="1" actId="20577"/>
        <pc:sldMkLst>
          <pc:docMk/>
          <pc:sldMk cId="0" sldId="264"/>
        </pc:sldMkLst>
        <pc:spChg chg="mod">
          <ac:chgData name="saraths" userId="S::saraths@am.amrita.edu::244d0ad9-751b-45dc-a37d-eb545e66f5d8" providerId="AD" clId="Web-{44F9971D-CB0B-D628-132A-A7BAA90E0A60}" dt="2025-08-12T10:41:42.474" v="1" actId="20577"/>
          <ac:spMkLst>
            <pc:docMk/>
            <pc:sldMk cId="0" sldId="264"/>
            <ac:spMk id="6" creationId="{00000000-0000-0000-0000-000000000000}"/>
          </ac:spMkLst>
        </pc:spChg>
      </pc:sldChg>
    </pc:docChg>
  </pc:docChgLst>
  <pc:docChgLst>
    <pc:chgData name="saraths" userId="S::saraths@am.amrita.edu::244d0ad9-751b-45dc-a37d-eb545e66f5d8" providerId="AD" clId="Web-{A6DDF451-C644-DA15-B9D1-F2889AA07CC7}"/>
    <pc:docChg chg="modSld">
      <pc:chgData name="saraths" userId="S::saraths@am.amrita.edu::244d0ad9-751b-45dc-a37d-eb545e66f5d8" providerId="AD" clId="Web-{A6DDF451-C644-DA15-B9D1-F2889AA07CC7}" dt="2025-08-14T04:54:39.191" v="277" actId="20577"/>
      <pc:docMkLst>
        <pc:docMk/>
      </pc:docMkLst>
      <pc:sldChg chg="modSp">
        <pc:chgData name="saraths" userId="S::saraths@am.amrita.edu::244d0ad9-751b-45dc-a37d-eb545e66f5d8" providerId="AD" clId="Web-{A6DDF451-C644-DA15-B9D1-F2889AA07CC7}" dt="2025-08-14T04:11:40.845" v="4" actId="20577"/>
        <pc:sldMkLst>
          <pc:docMk/>
          <pc:sldMk cId="0" sldId="273"/>
        </pc:sldMkLst>
        <pc:spChg chg="mod">
          <ac:chgData name="saraths" userId="S::saraths@am.amrita.edu::244d0ad9-751b-45dc-a37d-eb545e66f5d8" providerId="AD" clId="Web-{A6DDF451-C644-DA15-B9D1-F2889AA07CC7}" dt="2025-08-14T04:11:40.845" v="4" actId="20577"/>
          <ac:spMkLst>
            <pc:docMk/>
            <pc:sldMk cId="0" sldId="273"/>
            <ac:spMk id="3" creationId="{00000000-0000-0000-0000-000000000000}"/>
          </ac:spMkLst>
        </pc:spChg>
      </pc:sldChg>
      <pc:sldChg chg="delSp modSp">
        <pc:chgData name="saraths" userId="S::saraths@am.amrita.edu::244d0ad9-751b-45dc-a37d-eb545e66f5d8" providerId="AD" clId="Web-{A6DDF451-C644-DA15-B9D1-F2889AA07CC7}" dt="2025-08-14T04:19:55.730" v="8" actId="14100"/>
        <pc:sldMkLst>
          <pc:docMk/>
          <pc:sldMk cId="0" sldId="274"/>
        </pc:sldMkLst>
        <pc:picChg chg="del mod modCrop">
          <ac:chgData name="saraths" userId="S::saraths@am.amrita.edu::244d0ad9-751b-45dc-a37d-eb545e66f5d8" providerId="AD" clId="Web-{A6DDF451-C644-DA15-B9D1-F2889AA07CC7}" dt="2025-08-14T04:19:48.370" v="7"/>
          <ac:picMkLst>
            <pc:docMk/>
            <pc:sldMk cId="0" sldId="274"/>
            <ac:picMk id="3" creationId="{00000000-0000-0000-0000-000000000000}"/>
          </ac:picMkLst>
        </pc:picChg>
        <pc:picChg chg="mod">
          <ac:chgData name="saraths" userId="S::saraths@am.amrita.edu::244d0ad9-751b-45dc-a37d-eb545e66f5d8" providerId="AD" clId="Web-{A6DDF451-C644-DA15-B9D1-F2889AA07CC7}" dt="2025-08-14T04:19:55.730" v="8" actId="14100"/>
          <ac:picMkLst>
            <pc:docMk/>
            <pc:sldMk cId="0" sldId="274"/>
            <ac:picMk id="5" creationId="{00000000-0000-0000-0000-000000000000}"/>
          </ac:picMkLst>
        </pc:picChg>
      </pc:sldChg>
      <pc:sldChg chg="modSp">
        <pc:chgData name="saraths" userId="S::saraths@am.amrita.edu::244d0ad9-751b-45dc-a37d-eb545e66f5d8" providerId="AD" clId="Web-{A6DDF451-C644-DA15-B9D1-F2889AA07CC7}" dt="2025-08-14T04:20:23.902" v="12" actId="14100"/>
        <pc:sldMkLst>
          <pc:docMk/>
          <pc:sldMk cId="0" sldId="275"/>
        </pc:sldMkLst>
        <pc:picChg chg="mod">
          <ac:chgData name="saraths" userId="S::saraths@am.amrita.edu::244d0ad9-751b-45dc-a37d-eb545e66f5d8" providerId="AD" clId="Web-{A6DDF451-C644-DA15-B9D1-F2889AA07CC7}" dt="2025-08-14T04:20:23.902" v="12" actId="14100"/>
          <ac:picMkLst>
            <pc:docMk/>
            <pc:sldMk cId="0" sldId="275"/>
            <ac:picMk id="3" creationId="{00000000-0000-0000-0000-000000000000}"/>
          </ac:picMkLst>
        </pc:picChg>
        <pc:picChg chg="mod">
          <ac:chgData name="saraths" userId="S::saraths@am.amrita.edu::244d0ad9-751b-45dc-a37d-eb545e66f5d8" providerId="AD" clId="Web-{A6DDF451-C644-DA15-B9D1-F2889AA07CC7}" dt="2025-08-14T04:20:13.355" v="9" actId="1076"/>
          <ac:picMkLst>
            <pc:docMk/>
            <pc:sldMk cId="0" sldId="275"/>
            <ac:picMk id="5" creationId="{00000000-0000-0000-0000-000000000000}"/>
          </ac:picMkLst>
        </pc:picChg>
      </pc:sldChg>
      <pc:sldChg chg="modNotes">
        <pc:chgData name="saraths" userId="S::saraths@am.amrita.edu::244d0ad9-751b-45dc-a37d-eb545e66f5d8" providerId="AD" clId="Web-{A6DDF451-C644-DA15-B9D1-F2889AA07CC7}" dt="2025-08-14T04:40:13.330" v="171"/>
        <pc:sldMkLst>
          <pc:docMk/>
          <pc:sldMk cId="0" sldId="277"/>
        </pc:sldMkLst>
      </pc:sldChg>
      <pc:sldChg chg="modNotes">
        <pc:chgData name="saraths" userId="S::saraths@am.amrita.edu::244d0ad9-751b-45dc-a37d-eb545e66f5d8" providerId="AD" clId="Web-{A6DDF451-C644-DA15-B9D1-F2889AA07CC7}" dt="2025-08-14T04:44:52.257" v="208"/>
        <pc:sldMkLst>
          <pc:docMk/>
          <pc:sldMk cId="0" sldId="278"/>
        </pc:sldMkLst>
      </pc:sldChg>
      <pc:sldChg chg="modSp modNotes">
        <pc:chgData name="saraths" userId="S::saraths@am.amrita.edu::244d0ad9-751b-45dc-a37d-eb545e66f5d8" providerId="AD" clId="Web-{A6DDF451-C644-DA15-B9D1-F2889AA07CC7}" dt="2025-08-14T04:49:21.747" v="265"/>
        <pc:sldMkLst>
          <pc:docMk/>
          <pc:sldMk cId="0" sldId="279"/>
        </pc:sldMkLst>
        <pc:grpChg chg="mod">
          <ac:chgData name="saraths" userId="S::saraths@am.amrita.edu::244d0ad9-751b-45dc-a37d-eb545e66f5d8" providerId="AD" clId="Web-{A6DDF451-C644-DA15-B9D1-F2889AA07CC7}" dt="2025-08-14T04:42:14.301" v="172" actId="1076"/>
          <ac:grpSpMkLst>
            <pc:docMk/>
            <pc:sldMk cId="0" sldId="279"/>
            <ac:grpSpMk id="13" creationId="{00000000-0000-0000-0000-000000000000}"/>
          </ac:grpSpMkLst>
        </pc:grpChg>
      </pc:sldChg>
      <pc:sldChg chg="modSp">
        <pc:chgData name="saraths" userId="S::saraths@am.amrita.edu::244d0ad9-751b-45dc-a37d-eb545e66f5d8" providerId="AD" clId="Web-{A6DDF451-C644-DA15-B9D1-F2889AA07CC7}" dt="2025-08-14T04:54:39.191" v="277" actId="20577"/>
        <pc:sldMkLst>
          <pc:docMk/>
          <pc:sldMk cId="0" sldId="283"/>
        </pc:sldMkLst>
        <pc:spChg chg="mod">
          <ac:chgData name="saraths" userId="S::saraths@am.amrita.edu::244d0ad9-751b-45dc-a37d-eb545e66f5d8" providerId="AD" clId="Web-{A6DDF451-C644-DA15-B9D1-F2889AA07CC7}" dt="2025-08-14T04:54:39.191" v="277" actId="20577"/>
          <ac:spMkLst>
            <pc:docMk/>
            <pc:sldMk cId="0" sldId="283"/>
            <ac:spMk id="3" creationId="{00000000-0000-0000-0000-000000000000}"/>
          </ac:spMkLst>
        </pc:spChg>
      </pc:sldChg>
    </pc:docChg>
  </pc:docChgLst>
  <pc:docChgLst>
    <pc:chgData name="saraths" userId="S::saraths@am.amrita.edu::244d0ad9-751b-45dc-a37d-eb545e66f5d8" providerId="AD" clId="Web-{327CB9B5-282C-0BC1-8413-9D3209B242BA}"/>
    <pc:docChg chg="modSld">
      <pc:chgData name="saraths" userId="S::saraths@am.amrita.edu::244d0ad9-751b-45dc-a37d-eb545e66f5d8" providerId="AD" clId="Web-{327CB9B5-282C-0BC1-8413-9D3209B242BA}" dt="2025-08-13T04:19:42.207" v="72" actId="14100"/>
      <pc:docMkLst>
        <pc:docMk/>
      </pc:docMkLst>
      <pc:sldChg chg="modSp">
        <pc:chgData name="saraths" userId="S::saraths@am.amrita.edu::244d0ad9-751b-45dc-a37d-eb545e66f5d8" providerId="AD" clId="Web-{327CB9B5-282C-0BC1-8413-9D3209B242BA}" dt="2025-08-13T04:13:30.264" v="3" actId="20577"/>
        <pc:sldMkLst>
          <pc:docMk/>
          <pc:sldMk cId="0" sldId="264"/>
        </pc:sldMkLst>
        <pc:spChg chg="mod">
          <ac:chgData name="saraths" userId="S::saraths@am.amrita.edu::244d0ad9-751b-45dc-a37d-eb545e66f5d8" providerId="AD" clId="Web-{327CB9B5-282C-0BC1-8413-9D3209B242BA}" dt="2025-08-13T04:13:30.264" v="3" actId="20577"/>
          <ac:spMkLst>
            <pc:docMk/>
            <pc:sldMk cId="0" sldId="264"/>
            <ac:spMk id="8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4:07.312" v="6" actId="20577"/>
        <pc:sldMkLst>
          <pc:docMk/>
          <pc:sldMk cId="0" sldId="265"/>
        </pc:sldMkLst>
        <pc:spChg chg="mod">
          <ac:chgData name="saraths" userId="S::saraths@am.amrita.edu::244d0ad9-751b-45dc-a37d-eb545e66f5d8" providerId="AD" clId="Web-{327CB9B5-282C-0BC1-8413-9D3209B242BA}" dt="2025-08-13T04:14:07.312" v="6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4:20.609" v="9" actId="14100"/>
        <pc:sldMkLst>
          <pc:docMk/>
          <pc:sldMk cId="0" sldId="266"/>
        </pc:sldMkLst>
        <pc:picChg chg="mod">
          <ac:chgData name="saraths" userId="S::saraths@am.amrita.edu::244d0ad9-751b-45dc-a37d-eb545e66f5d8" providerId="AD" clId="Web-{327CB9B5-282C-0BC1-8413-9D3209B242BA}" dt="2025-08-13T04:14:20.609" v="9" actId="14100"/>
          <ac:picMkLst>
            <pc:docMk/>
            <pc:sldMk cId="0" sldId="266"/>
            <ac:picMk id="4" creationId="{00000000-0000-0000-0000-000000000000}"/>
          </ac:picMkLst>
        </pc:picChg>
      </pc:sldChg>
      <pc:sldChg chg="modSp">
        <pc:chgData name="saraths" userId="S::saraths@am.amrita.edu::244d0ad9-751b-45dc-a37d-eb545e66f5d8" providerId="AD" clId="Web-{327CB9B5-282C-0BC1-8413-9D3209B242BA}" dt="2025-08-13T04:14:55.469" v="10" actId="20577"/>
        <pc:sldMkLst>
          <pc:docMk/>
          <pc:sldMk cId="0" sldId="267"/>
        </pc:sldMkLst>
        <pc:spChg chg="mod">
          <ac:chgData name="saraths" userId="S::saraths@am.amrita.edu::244d0ad9-751b-45dc-a37d-eb545e66f5d8" providerId="AD" clId="Web-{327CB9B5-282C-0BC1-8413-9D3209B242BA}" dt="2025-08-13T04:14:55.469" v="10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5:20.907" v="12" actId="1076"/>
        <pc:sldMkLst>
          <pc:docMk/>
          <pc:sldMk cId="0" sldId="268"/>
        </pc:sldMkLst>
        <pc:spChg chg="mod">
          <ac:chgData name="saraths" userId="S::saraths@am.amrita.edu::244d0ad9-751b-45dc-a37d-eb545e66f5d8" providerId="AD" clId="Web-{327CB9B5-282C-0BC1-8413-9D3209B242BA}" dt="2025-08-13T04:15:15.063" v="11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raths" userId="S::saraths@am.amrita.edu::244d0ad9-751b-45dc-a37d-eb545e66f5d8" providerId="AD" clId="Web-{327CB9B5-282C-0BC1-8413-9D3209B242BA}" dt="2025-08-13T04:15:20.907" v="12" actId="1076"/>
          <ac:spMkLst>
            <pc:docMk/>
            <pc:sldMk cId="0" sldId="268"/>
            <ac:spMk id="9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6:53.970" v="31" actId="14100"/>
        <pc:sldMkLst>
          <pc:docMk/>
          <pc:sldMk cId="0" sldId="269"/>
        </pc:sldMkLst>
        <pc:spChg chg="mod">
          <ac:chgData name="saraths" userId="S::saraths@am.amrita.edu::244d0ad9-751b-45dc-a37d-eb545e66f5d8" providerId="AD" clId="Web-{327CB9B5-282C-0BC1-8413-9D3209B242BA}" dt="2025-08-13T04:16:44.095" v="30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araths" userId="S::saraths@am.amrita.edu::244d0ad9-751b-45dc-a37d-eb545e66f5d8" providerId="AD" clId="Web-{327CB9B5-282C-0BC1-8413-9D3209B242BA}" dt="2025-08-13T04:16:53.970" v="31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saraths" userId="S::saraths@am.amrita.edu::244d0ad9-751b-45dc-a37d-eb545e66f5d8" providerId="AD" clId="Web-{327CB9B5-282C-0BC1-8413-9D3209B242BA}" dt="2025-08-13T04:15:54.157" v="24" actId="1410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araths" userId="S::saraths@am.amrita.edu::244d0ad9-751b-45dc-a37d-eb545e66f5d8" providerId="AD" clId="Web-{327CB9B5-282C-0BC1-8413-9D3209B242BA}" dt="2025-08-13T04:16:28.126" v="29" actId="1410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araths" userId="S::saraths@am.amrita.edu::244d0ad9-751b-45dc-a37d-eb545e66f5d8" providerId="AD" clId="Web-{327CB9B5-282C-0BC1-8413-9D3209B242BA}" dt="2025-08-13T04:16:05.720" v="25" actId="14100"/>
          <ac:spMkLst>
            <pc:docMk/>
            <pc:sldMk cId="0" sldId="269"/>
            <ac:spMk id="15" creationId="{00000000-0000-0000-0000-000000000000}"/>
          </ac:spMkLst>
        </pc:spChg>
        <pc:grpChg chg="mod">
          <ac:chgData name="saraths" userId="S::saraths@am.amrita.edu::244d0ad9-751b-45dc-a37d-eb545e66f5d8" providerId="AD" clId="Web-{327CB9B5-282C-0BC1-8413-9D3209B242BA}" dt="2025-08-13T04:16:20.454" v="28" actId="1076"/>
          <ac:grpSpMkLst>
            <pc:docMk/>
            <pc:sldMk cId="0" sldId="269"/>
            <ac:grpSpMk id="13" creationId="{00000000-0000-0000-0000-000000000000}"/>
          </ac:grpSpMkLst>
        </pc:grpChg>
      </pc:sldChg>
      <pc:sldChg chg="modSp">
        <pc:chgData name="saraths" userId="S::saraths@am.amrita.edu::244d0ad9-751b-45dc-a37d-eb545e66f5d8" providerId="AD" clId="Web-{327CB9B5-282C-0BC1-8413-9D3209B242BA}" dt="2025-08-13T04:18:03.362" v="38" actId="20577"/>
        <pc:sldMkLst>
          <pc:docMk/>
          <pc:sldMk cId="0" sldId="270"/>
        </pc:sldMkLst>
        <pc:spChg chg="mod">
          <ac:chgData name="saraths" userId="S::saraths@am.amrita.edu::244d0ad9-751b-45dc-a37d-eb545e66f5d8" providerId="AD" clId="Web-{327CB9B5-282C-0BC1-8413-9D3209B242BA}" dt="2025-08-13T04:18:03.362" v="38" actId="20577"/>
          <ac:spMkLst>
            <pc:docMk/>
            <pc:sldMk cId="0" sldId="270"/>
            <ac:spMk id="12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7:49.268" v="34" actId="20577"/>
        <pc:sldMkLst>
          <pc:docMk/>
          <pc:sldMk cId="0" sldId="271"/>
        </pc:sldMkLst>
        <pc:spChg chg="mod">
          <ac:chgData name="saraths" userId="S::saraths@am.amrita.edu::244d0ad9-751b-45dc-a37d-eb545e66f5d8" providerId="AD" clId="Web-{327CB9B5-282C-0BC1-8413-9D3209B242BA}" dt="2025-08-13T04:17:49.268" v="34" actId="20577"/>
          <ac:spMkLst>
            <pc:docMk/>
            <pc:sldMk cId="0" sldId="271"/>
            <ac:spMk id="5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327CB9B5-282C-0BC1-8413-9D3209B242BA}" dt="2025-08-13T04:18:25.925" v="41" actId="20577"/>
        <pc:sldMkLst>
          <pc:docMk/>
          <pc:sldMk cId="0" sldId="272"/>
        </pc:sldMkLst>
        <pc:spChg chg="mod">
          <ac:chgData name="saraths" userId="S::saraths@am.amrita.edu::244d0ad9-751b-45dc-a37d-eb545e66f5d8" providerId="AD" clId="Web-{327CB9B5-282C-0BC1-8413-9D3209B242BA}" dt="2025-08-13T04:18:25.925" v="41" actId="20577"/>
          <ac:spMkLst>
            <pc:docMk/>
            <pc:sldMk cId="0" sldId="272"/>
            <ac:spMk id="5" creationId="{00000000-0000-0000-0000-000000000000}"/>
          </ac:spMkLst>
        </pc:spChg>
      </pc:sldChg>
      <pc:sldChg chg="delSp modSp">
        <pc:chgData name="saraths" userId="S::saraths@am.amrita.edu::244d0ad9-751b-45dc-a37d-eb545e66f5d8" providerId="AD" clId="Web-{327CB9B5-282C-0BC1-8413-9D3209B242BA}" dt="2025-08-13T04:19:42.207" v="72" actId="14100"/>
        <pc:sldMkLst>
          <pc:docMk/>
          <pc:sldMk cId="0" sldId="273"/>
        </pc:sldMkLst>
        <pc:spChg chg="mod">
          <ac:chgData name="saraths" userId="S::saraths@am.amrita.edu::244d0ad9-751b-45dc-a37d-eb545e66f5d8" providerId="AD" clId="Web-{327CB9B5-282C-0BC1-8413-9D3209B242BA}" dt="2025-08-13T04:19:34.253" v="69" actId="20577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saraths" userId="S::saraths@am.amrita.edu::244d0ad9-751b-45dc-a37d-eb545e66f5d8" providerId="AD" clId="Web-{327CB9B5-282C-0BC1-8413-9D3209B242BA}" dt="2025-08-13T04:18:43.503" v="46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saraths" userId="S::saraths@am.amrita.edu::244d0ad9-751b-45dc-a37d-eb545e66f5d8" providerId="AD" clId="Web-{327CB9B5-282C-0BC1-8413-9D3209B242BA}" dt="2025-08-13T04:19:23.894" v="62"/>
          <ac:spMkLst>
            <pc:docMk/>
            <pc:sldMk cId="0" sldId="273"/>
            <ac:spMk id="5" creationId="{00000000-0000-0000-0000-000000000000}"/>
          </ac:spMkLst>
        </pc:spChg>
        <pc:picChg chg="mod">
          <ac:chgData name="saraths" userId="S::saraths@am.amrita.edu::244d0ad9-751b-45dc-a37d-eb545e66f5d8" providerId="AD" clId="Web-{327CB9B5-282C-0BC1-8413-9D3209B242BA}" dt="2025-08-13T04:19:42.207" v="72" actId="14100"/>
          <ac:picMkLst>
            <pc:docMk/>
            <pc:sldMk cId="0" sldId="273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26804-8633-4C2D-A593-66B452AF3C0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91A9E-B709-4938-A191-1785733A0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6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Slope</a:t>
            </a:r>
            <a:r>
              <a:rPr lang="en-US" dirty="0"/>
              <a:t>:</a:t>
            </a:r>
          </a:p>
          <a:p>
            <a:r>
              <a:rPr lang="en-US" dirty="0"/>
              <a:t>m=−w1/w2=−1/3 (shallow slope)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Intercept</a:t>
            </a:r>
            <a:r>
              <a:rPr lang="en-US" dirty="0"/>
              <a:t>:</a:t>
            </a:r>
          </a:p>
          <a:p>
            <a:r>
              <a:rPr lang="en-US" dirty="0"/>
              <a:t>c=b/w2=0.7/3 ≈ 0.233 </a:t>
            </a:r>
          </a:p>
          <a:p>
            <a:r>
              <a:rPr lang="en-US" dirty="0"/>
              <a:t>🔹 </a:t>
            </a:r>
            <a:r>
              <a:rPr lang="en-US" b="1" dirty="0"/>
              <a:t>Flexibility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slope is now </a:t>
            </a:r>
            <a:r>
              <a:rPr lang="en-US" b="1" dirty="0"/>
              <a:t>-1/3</a:t>
            </a:r>
            <a:r>
              <a:rPr lang="en-US" dirty="0"/>
              <a:t>, not -1 — the line is much flatter.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Both slope and intercept depend on the </a:t>
            </a:r>
            <a:r>
              <a:rPr lang="en-US" b="1" dirty="0"/>
              <a:t>learned weights</a:t>
            </a:r>
            <a:r>
              <a:rPr lang="en-US" dirty="0"/>
              <a:t> and </a:t>
            </a:r>
            <a:r>
              <a:rPr lang="en-US" b="1" dirty="0"/>
              <a:t>bias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This tilting ability allows the perceptron to separate classes in ways the MP neuron cannot.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91A9E-B709-4938-A191-1785733A0B2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79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90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14-CEA1-4751-B4F1-497A70F6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0B34C-6ACD-4D78-BC86-B0BF5E8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21FA-F2A4-45BB-A75D-8B6A253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E85-2FA0-4E61-A93E-F7A231C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0C-F01C-4E74-981E-86D131C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37" y="1235990"/>
            <a:ext cx="3660496" cy="455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91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D080-B51B-44B8-862D-984950A7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3F68-356E-4D3D-86AE-CD4367C5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7366-8120-47E4-ADDF-4EC8201C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0F8E-A193-4B55-B497-5485ADB8870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D4EFD-8FD2-40BA-8A46-224D48F6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FF29-4989-4580-BE30-F964FB13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5E7F-D1D9-400F-B9C2-95429B4E6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5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149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3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931" y="60706"/>
            <a:ext cx="500062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76671" y="5406034"/>
            <a:ext cx="6113145" cy="93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18248-39AE-B24D-B571-E8695ACF8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0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68" r:id="rId4"/>
    <p:sldLayoutId id="2147483670" r:id="rId5"/>
    <p:sldLayoutId id="2147483671" r:id="rId6"/>
    <p:sldLayoutId id="2147483672" r:id="rId7"/>
    <p:sldLayoutId id="2147483673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931" y="-289314"/>
            <a:ext cx="10228503" cy="1612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jp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jp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5540720" y="4790366"/>
            <a:ext cx="4932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 b="1" dirty="0">
                <a:solidFill>
                  <a:prstClr val="white"/>
                </a:solidFill>
                <a:latin typeface="Georgia" panose="02040502050405020303" pitchFamily="18" charset="0"/>
              </a:rPr>
              <a:t>MP Neuron &amp; Perceptron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7176" y="920464"/>
            <a:ext cx="10330180" cy="35868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60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50"/>
              </a:spcBef>
            </a:pPr>
            <a:endParaRPr sz="5400" dirty="0">
              <a:latin typeface="Times New Roman"/>
              <a:cs typeface="Times New Roman"/>
            </a:endParaRPr>
          </a:p>
          <a:p>
            <a:pPr marL="3549015" marR="3540125" algn="ctr">
              <a:lnSpc>
                <a:spcPct val="100000"/>
              </a:lnSpc>
            </a:pPr>
            <a:r>
              <a:rPr sz="5400" b="1" i="1" dirty="0">
                <a:solidFill>
                  <a:srgbClr val="292929"/>
                </a:solidFill>
                <a:latin typeface="Calibri"/>
                <a:cs typeface="Calibri"/>
              </a:rPr>
              <a:t>MP</a:t>
            </a:r>
            <a:r>
              <a:rPr sz="5400" b="1" i="1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5400" b="1" i="1" spc="-10" dirty="0">
                <a:solidFill>
                  <a:srgbClr val="292929"/>
                </a:solidFill>
                <a:latin typeface="Calibri"/>
                <a:cs typeface="Calibri"/>
              </a:rPr>
              <a:t>Neuron </a:t>
            </a:r>
            <a:r>
              <a:rPr lang="en-US" sz="5400" b="1" i="1" spc="-10" dirty="0">
                <a:solidFill>
                  <a:srgbClr val="292929"/>
                </a:solidFill>
                <a:latin typeface="Calibri"/>
                <a:cs typeface="Calibri"/>
              </a:rPr>
              <a:t> &amp; </a:t>
            </a:r>
            <a:r>
              <a:rPr sz="5400" b="1" i="1" spc="-10" dirty="0">
                <a:solidFill>
                  <a:srgbClr val="292929"/>
                </a:solidFill>
                <a:latin typeface="Calibri"/>
                <a:cs typeface="Calibri"/>
              </a:rPr>
              <a:t>Perceptron</a:t>
            </a:r>
            <a:endParaRPr sz="5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86" y="5491683"/>
            <a:ext cx="59232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::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57575"/>
                </a:solidFill>
                <a:latin typeface="Calibri"/>
                <a:cs typeface="Calibri"/>
              </a:rPr>
              <a:t>NPTel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series</a:t>
            </a:r>
            <a:r>
              <a:rPr sz="1800" spc="-5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IIT</a:t>
            </a:r>
            <a:r>
              <a:rPr sz="1800" spc="-5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Madras</a:t>
            </a:r>
            <a:r>
              <a:rPr sz="1800" spc="-5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–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Kapra,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Coursera</a:t>
            </a:r>
            <a:r>
              <a:rPr sz="1800" spc="-2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</a:t>
            </a:r>
            <a:r>
              <a:rPr sz="1800" spc="-2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Andrew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NG,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Deep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fast.ai,</a:t>
            </a:r>
            <a:r>
              <a:rPr sz="1800" spc="-6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Dive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into</a:t>
            </a:r>
            <a:r>
              <a:rPr sz="1800" spc="-6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Deep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7588"/>
            <a:ext cx="3715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15" dirty="0">
                <a:solidFill>
                  <a:srgbClr val="C00000"/>
                </a:solidFill>
                <a:latin typeface="Arial"/>
                <a:cs typeface="Arial"/>
              </a:rPr>
              <a:t>Biological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70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80" y="1856373"/>
            <a:ext cx="6847499" cy="38351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34225" y="445134"/>
            <a:ext cx="43522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Dendrite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Receives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signals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Soma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Axon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Transmits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Synapse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connection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080861"/>
            <a:ext cx="3273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Courtesy: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Towardsdatascience.com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6057" y="1833845"/>
            <a:ext cx="4135570" cy="43199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20013" y="238201"/>
            <a:ext cx="4775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292929"/>
                </a:solidFill>
                <a:latin typeface="Arial"/>
                <a:cs typeface="Arial"/>
              </a:rPr>
              <a:t>Takes</a:t>
            </a:r>
            <a:r>
              <a:rPr sz="1800" b="1" spc="-6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292929"/>
                </a:solidFill>
                <a:latin typeface="Arial"/>
                <a:cs typeface="Arial"/>
              </a:rPr>
              <a:t>an</a:t>
            </a:r>
            <a:r>
              <a:rPr sz="1800" b="1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292929"/>
                </a:solidFill>
                <a:latin typeface="Arial"/>
                <a:cs typeface="Arial"/>
              </a:rPr>
              <a:t>input,</a:t>
            </a:r>
            <a:r>
              <a:rPr sz="1800" b="1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292929"/>
                </a:solidFill>
                <a:latin typeface="Arial"/>
                <a:cs typeface="Arial"/>
              </a:rPr>
              <a:t>processes</a:t>
            </a:r>
            <a:r>
              <a:rPr sz="1800" b="1" spc="-5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92929"/>
                </a:solidFill>
                <a:latin typeface="Arial"/>
                <a:cs typeface="Arial"/>
              </a:rPr>
              <a:t>it,</a:t>
            </a:r>
            <a:r>
              <a:rPr sz="1800" b="1" spc="-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292929"/>
                </a:solidFill>
                <a:latin typeface="Arial"/>
                <a:cs typeface="Arial"/>
              </a:rPr>
              <a:t>throws</a:t>
            </a:r>
            <a:r>
              <a:rPr sz="1800" b="1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292929"/>
                </a:solidFill>
                <a:latin typeface="Arial"/>
                <a:cs typeface="Arial"/>
              </a:rPr>
              <a:t>out</a:t>
            </a:r>
            <a:r>
              <a:rPr sz="1800" b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292929"/>
                </a:solidFill>
                <a:latin typeface="Arial"/>
                <a:cs typeface="Arial"/>
              </a:rPr>
              <a:t>an</a:t>
            </a:r>
            <a:r>
              <a:rPr sz="1800" b="1" spc="-2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292929"/>
                </a:solidFill>
                <a:latin typeface="Arial"/>
                <a:cs typeface="Arial"/>
              </a:rPr>
              <a:t>output.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3196" y="496061"/>
            <a:ext cx="563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sense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world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sound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information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neurons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13196" y="1254963"/>
            <a:ext cx="59258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.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Let's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say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watching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video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clip.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Now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information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brain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receives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taken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“laugh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not”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help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decision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laugh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not.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703834"/>
            <a:ext cx="5443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gets</a:t>
            </a:r>
            <a:r>
              <a:rPr sz="18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fired/activated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only</a:t>
            </a:r>
            <a:r>
              <a:rPr sz="1800" b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respective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criteria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92929"/>
                </a:solidFill>
                <a:latin typeface="Calibri"/>
                <a:cs typeface="Calibri"/>
              </a:rPr>
              <a:t>met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0174" y="151587"/>
            <a:ext cx="27882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35" dirty="0">
                <a:solidFill>
                  <a:srgbClr val="C00000"/>
                </a:solidFill>
                <a:latin typeface="Arial"/>
                <a:cs typeface="Arial"/>
              </a:rPr>
              <a:t>Biological</a:t>
            </a:r>
            <a:r>
              <a:rPr sz="30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90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6080861"/>
            <a:ext cx="3273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Courtesy: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Towardsdatascience.com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" y="2499360"/>
            <a:ext cx="11996927" cy="28346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89575" y="5475833"/>
            <a:ext cx="59690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There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massively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parallel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interconnected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10¹¹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neurons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(100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billion)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brain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their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connections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not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simple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461" y="128981"/>
            <a:ext cx="9669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75" dirty="0">
                <a:solidFill>
                  <a:srgbClr val="C00000"/>
                </a:solidFill>
                <a:latin typeface="Arial"/>
                <a:cs typeface="Arial"/>
              </a:rPr>
              <a:t>Neurons</a:t>
            </a:r>
            <a:r>
              <a:rPr sz="40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65" dirty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40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10" dirty="0">
                <a:solidFill>
                  <a:srgbClr val="C00000"/>
                </a:solidFill>
                <a:latin typeface="Arial"/>
                <a:cs typeface="Arial"/>
              </a:rPr>
              <a:t>arranged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54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40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9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40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80" dirty="0">
                <a:solidFill>
                  <a:srgbClr val="C00000"/>
                </a:solidFill>
                <a:latin typeface="Arial"/>
                <a:cs typeface="Arial"/>
              </a:rPr>
              <a:t>hierarchical</a:t>
            </a:r>
            <a:r>
              <a:rPr sz="40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50" dirty="0">
                <a:solidFill>
                  <a:srgbClr val="C00000"/>
                </a:solidFill>
                <a:latin typeface="Arial"/>
                <a:cs typeface="Arial"/>
              </a:rPr>
              <a:t>fashion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0938" y="1459765"/>
            <a:ext cx="4128749" cy="4278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897" y="1161669"/>
            <a:ext cx="58972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67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Neurons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C00000"/>
                </a:solidFill>
                <a:latin typeface="Arial"/>
                <a:cs typeface="Arial"/>
              </a:rPr>
              <a:t>arranged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hierarchical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fashion</a:t>
            </a:r>
            <a:r>
              <a:rPr sz="1800" b="1" spc="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each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layer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has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its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own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role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responsibility.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2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detect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face,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brain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could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relying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on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entire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network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not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on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single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layer.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19" y="3003804"/>
            <a:ext cx="6021324" cy="20543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5741314"/>
            <a:ext cx="49491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:Sample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illustration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hierarchical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processing.</a:t>
            </a:r>
            <a:r>
              <a:rPr sz="1800" spc="-5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Credits: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5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M.</a:t>
            </a:r>
            <a:r>
              <a:rPr sz="1800" spc="-5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Khapra’s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4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slides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3836" y="1513332"/>
            <a:ext cx="10330180" cy="38315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800">
              <a:latin typeface="Times New Roman"/>
              <a:cs typeface="Times New Roman"/>
            </a:endParaRPr>
          </a:p>
          <a:p>
            <a:pPr marL="90805" marR="83820" algn="ctr">
              <a:lnSpc>
                <a:spcPct val="100000"/>
              </a:lnSpc>
            </a:pP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800" b="1" i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800" b="1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800" b="1" i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towards</a:t>
            </a:r>
            <a:r>
              <a:rPr sz="2800" b="1" i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perceptron</a:t>
            </a:r>
            <a:r>
              <a:rPr sz="2800" b="1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800" b="1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2800" b="1" i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today</a:t>
            </a:r>
            <a:r>
              <a:rPr sz="2800" b="1" i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2800" b="1" i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taken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292929"/>
                </a:solidFill>
                <a:latin typeface="Calibri"/>
                <a:cs typeface="Calibri"/>
              </a:rPr>
              <a:t>in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1943</a:t>
            </a:r>
            <a:r>
              <a:rPr sz="2800" b="1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292929"/>
                </a:solidFill>
                <a:latin typeface="Calibri"/>
                <a:cs typeface="Calibri"/>
              </a:rPr>
              <a:t>McCulloch</a:t>
            </a:r>
            <a:r>
              <a:rPr sz="2800" b="1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800" b="1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Pitts,</a:t>
            </a:r>
            <a:r>
              <a:rPr sz="2800" b="1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mimicking</a:t>
            </a:r>
            <a:r>
              <a:rPr sz="2800" b="1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292929"/>
                </a:solidFill>
                <a:latin typeface="Calibri"/>
                <a:cs typeface="Calibri"/>
              </a:rPr>
              <a:t>functionality</a:t>
            </a:r>
            <a:r>
              <a:rPr sz="2800" b="1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800" b="1" i="1" spc="-50" dirty="0">
                <a:solidFill>
                  <a:srgbClr val="292929"/>
                </a:solidFill>
                <a:latin typeface="Calibri"/>
                <a:cs typeface="Calibri"/>
              </a:rPr>
              <a:t> a </a:t>
            </a:r>
            <a:r>
              <a:rPr sz="2800" b="1" i="1" dirty="0">
                <a:solidFill>
                  <a:srgbClr val="292929"/>
                </a:solidFill>
                <a:latin typeface="Calibri"/>
                <a:cs typeface="Calibri"/>
              </a:rPr>
              <a:t>biological</a:t>
            </a:r>
            <a:r>
              <a:rPr sz="2800" b="1" i="1" spc="-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292929"/>
                </a:solidFill>
                <a:latin typeface="Calibri"/>
                <a:cs typeface="Calibri"/>
              </a:rPr>
              <a:t>neuron.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0347" y="1556507"/>
            <a:ext cx="4135570" cy="43199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4116" y="1864325"/>
            <a:ext cx="1647537" cy="32949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44081" y="149733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solidFill>
                  <a:srgbClr val="C00000"/>
                </a:solidFill>
                <a:latin typeface="Arial"/>
                <a:cs typeface="Arial"/>
              </a:rPr>
              <a:t>Artificial</a:t>
            </a:r>
            <a:r>
              <a:rPr sz="1800" b="1" spc="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743" y="464340"/>
            <a:ext cx="10783784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21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fundamental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block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Deep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</a:t>
            </a:r>
            <a:endParaRPr sz="18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85"/>
              </a:spcBef>
            </a:pPr>
            <a:r>
              <a:rPr lang="en-IN" sz="2400" spc="-20" dirty="0">
                <a:solidFill>
                  <a:srgbClr val="292929"/>
                </a:solidFill>
                <a:latin typeface="Calibri"/>
                <a:cs typeface="Calibri"/>
              </a:rPr>
              <a:t>The fundamental unit of deep neural networks is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called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artificial</a:t>
            </a:r>
            <a:r>
              <a:rPr sz="1800" i="1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neuron/perceptron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2860" y="3820159"/>
            <a:ext cx="13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5949188"/>
            <a:ext cx="413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::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M.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Khapra’s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slides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5266" y="-40767"/>
            <a:ext cx="3408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45" dirty="0">
                <a:solidFill>
                  <a:srgbClr val="C00000"/>
                </a:solidFill>
                <a:latin typeface="Arial"/>
                <a:cs typeface="Arial"/>
              </a:rPr>
              <a:t>Artificial</a:t>
            </a:r>
            <a:r>
              <a:rPr sz="4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80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86636"/>
            <a:ext cx="2479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Artificial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Neural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266" y="541401"/>
            <a:ext cx="94348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sz="2400" dirty="0">
                <a:latin typeface="Calibri Light"/>
                <a:cs typeface="Calibri Light"/>
              </a:rPr>
              <a:t>The</a:t>
            </a:r>
            <a:r>
              <a:rPr sz="2400" spc="-45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fundamental</a:t>
            </a:r>
            <a:r>
              <a:rPr sz="2400" spc="-6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Building</a:t>
            </a:r>
            <a:r>
              <a:rPr sz="2400" spc="-4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block</a:t>
            </a:r>
            <a:r>
              <a:rPr sz="2400" spc="-5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of</a:t>
            </a:r>
            <a:r>
              <a:rPr sz="2400" spc="-4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Deep</a:t>
            </a:r>
            <a:r>
              <a:rPr sz="2400" spc="-45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3971925">
              <a:lnSpc>
                <a:spcPts val="2160"/>
              </a:lnSpc>
            </a:pPr>
            <a:r>
              <a:rPr sz="1800" b="1" spc="-155" dirty="0">
                <a:solidFill>
                  <a:srgbClr val="292929"/>
                </a:solidFill>
                <a:latin typeface="Arial"/>
                <a:cs typeface="Arial"/>
              </a:rPr>
              <a:t>McCulloch-</a:t>
            </a:r>
            <a:r>
              <a:rPr sz="1800" b="1" spc="-125" dirty="0">
                <a:solidFill>
                  <a:srgbClr val="292929"/>
                </a:solidFill>
                <a:latin typeface="Arial"/>
                <a:cs typeface="Arial"/>
              </a:rPr>
              <a:t>Pitts</a:t>
            </a:r>
            <a:r>
              <a:rPr sz="1800" b="1" spc="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Arial"/>
                <a:cs typeface="Arial"/>
              </a:rPr>
              <a:t>Neuron</a:t>
            </a:r>
            <a:endParaRPr sz="1800">
              <a:latin typeface="Arial"/>
              <a:cs typeface="Arial"/>
            </a:endParaRPr>
          </a:p>
          <a:p>
            <a:pPr marL="3971925">
              <a:lnSpc>
                <a:spcPct val="100000"/>
              </a:lnSpc>
            </a:pP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first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computational</a:t>
            </a:r>
            <a:r>
              <a:rPr sz="1800" spc="-1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model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neuron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was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proposed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4592" y="1455801"/>
            <a:ext cx="5807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Warren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MuCulloch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(neuroscientist)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Walter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Pitts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(logician)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in 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1943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3455" y="2129027"/>
            <a:ext cx="6106795" cy="872034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40640" rIns="0" bIns="0" rtlCol="0" anchor="t">
            <a:spAutoFit/>
          </a:bodyPr>
          <a:lstStyle/>
          <a:p>
            <a:pPr marL="92710" marR="316865">
              <a:lnSpc>
                <a:spcPct val="100000"/>
              </a:lnSpc>
              <a:spcBef>
                <a:spcPts val="320"/>
              </a:spcBef>
            </a:pPr>
            <a:r>
              <a:rPr sz="1800" spc="-1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may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divided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into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2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parts.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first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part,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i="1" spc="-185" dirty="0">
                <a:solidFill>
                  <a:srgbClr val="292929"/>
                </a:solidFill>
                <a:latin typeface="Arial"/>
                <a:cs typeface="Arial"/>
              </a:rPr>
              <a:t>g</a:t>
            </a:r>
            <a:r>
              <a:rPr sz="1800" b="1" i="1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takes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input</a:t>
            </a:r>
            <a:r>
              <a:rPr lang="en-US" spc="-125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performs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aggregation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based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on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aggregated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value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second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part,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Arial"/>
                <a:cs typeface="Arial"/>
              </a:rPr>
              <a:t>f</a:t>
            </a:r>
            <a:r>
              <a:rPr sz="1800" b="1" i="1" spc="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makes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decision.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422" y="1784223"/>
            <a:ext cx="2134628" cy="25241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65979" y="3443096"/>
            <a:ext cx="7146290" cy="276923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415925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Lets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suppose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that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45" dirty="0">
                <a:solidFill>
                  <a:srgbClr val="292929"/>
                </a:solidFill>
                <a:latin typeface="Tahoma"/>
                <a:cs typeface="Tahoma"/>
              </a:rPr>
              <a:t>I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want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006FC0"/>
                </a:solidFill>
                <a:latin typeface="Arial"/>
                <a:cs typeface="Arial"/>
              </a:rPr>
              <a:t>predict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35" dirty="0">
                <a:solidFill>
                  <a:srgbClr val="006FC0"/>
                </a:solidFill>
                <a:latin typeface="Arial"/>
                <a:cs typeface="Arial"/>
              </a:rPr>
              <a:t>my</a:t>
            </a:r>
            <a:r>
              <a:rPr sz="1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006FC0"/>
                </a:solidFill>
                <a:latin typeface="Arial"/>
                <a:cs typeface="Arial"/>
              </a:rPr>
              <a:t>own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006FC0"/>
                </a:solidFill>
                <a:latin typeface="Arial"/>
                <a:cs typeface="Arial"/>
              </a:rPr>
              <a:t>decision</a:t>
            </a: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whether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watch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sz="1800" b="1" spc="-185" dirty="0">
                <a:solidFill>
                  <a:srgbClr val="C00000"/>
                </a:solidFill>
                <a:latin typeface="Arial"/>
                <a:cs typeface="Arial"/>
              </a:rPr>
              <a:t>random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C00000"/>
                </a:solidFill>
                <a:latin typeface="Arial"/>
                <a:cs typeface="Arial"/>
              </a:rPr>
              <a:t>football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game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TV?.</a:t>
            </a:r>
            <a:endParaRPr lang="en-US"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inputs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are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all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boolean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i.e.,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15" dirty="0">
                <a:solidFill>
                  <a:srgbClr val="292929"/>
                </a:solidFill>
                <a:latin typeface="Tahoma"/>
                <a:cs typeface="Tahoma"/>
              </a:rPr>
              <a:t>{0,1}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my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output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variable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also</a:t>
            </a:r>
            <a:r>
              <a:rPr sz="1800" spc="-1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boolean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{0: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Will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watch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it,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1: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Won’t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watch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it}.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So,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lang="en-US" b="1" i="1" spc="-140" dirty="0">
                <a:solidFill>
                  <a:srgbClr val="292929"/>
                </a:solidFill>
                <a:latin typeface="Arial"/>
                <a:cs typeface="Arial"/>
              </a:rPr>
              <a:t>x1</a:t>
            </a:r>
            <a:r>
              <a:rPr sz="1800" b="1" i="1" spc="3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could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i="1" spc="-135" dirty="0">
                <a:solidFill>
                  <a:srgbClr val="292929"/>
                </a:solidFill>
                <a:latin typeface="Arial"/>
                <a:cs typeface="Arial"/>
              </a:rPr>
              <a:t>isPremierLeagueOn</a:t>
            </a:r>
            <a:r>
              <a:rPr sz="1800" i="1" spc="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292929"/>
                </a:solidFill>
                <a:latin typeface="Tahoma"/>
                <a:cs typeface="Tahoma"/>
              </a:rPr>
              <a:t>(I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like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Premier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League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more)</a:t>
            </a:r>
            <a:endParaRPr sz="1800">
              <a:latin typeface="Tahoma"/>
              <a:cs typeface="Tahoma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b="1" i="1" spc="-145" dirty="0">
                <a:solidFill>
                  <a:srgbClr val="292929"/>
                </a:solidFill>
                <a:latin typeface="Arial"/>
                <a:cs typeface="Arial"/>
              </a:rPr>
              <a:t>x2</a:t>
            </a:r>
            <a:r>
              <a:rPr sz="1800" b="1" i="1" spc="-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could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i="1" spc="-125" dirty="0">
                <a:solidFill>
                  <a:srgbClr val="292929"/>
                </a:solidFill>
                <a:latin typeface="Arial"/>
                <a:cs typeface="Arial"/>
              </a:rPr>
              <a:t>isItAFriendlyGame</a:t>
            </a:r>
            <a:r>
              <a:rPr sz="1800" i="1" spc="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292929"/>
                </a:solidFill>
                <a:latin typeface="Tahoma"/>
                <a:cs typeface="Tahoma"/>
              </a:rPr>
              <a:t>(I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tend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care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less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about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friendlies)</a:t>
            </a:r>
            <a:endParaRPr sz="1800">
              <a:latin typeface="Tahoma"/>
              <a:cs typeface="Tahoma"/>
            </a:endParaRPr>
          </a:p>
          <a:p>
            <a:pPr marL="91440" indent="-88900"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b="1" i="1" spc="-140" dirty="0">
                <a:solidFill>
                  <a:srgbClr val="292929"/>
                </a:solidFill>
                <a:latin typeface="Arial"/>
                <a:cs typeface="Arial"/>
              </a:rPr>
              <a:t>x3</a:t>
            </a:r>
            <a:r>
              <a:rPr lang="en-US" b="1" i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could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i="1" spc="-125" dirty="0">
                <a:solidFill>
                  <a:srgbClr val="292929"/>
                </a:solidFill>
                <a:latin typeface="Arial"/>
                <a:cs typeface="Arial"/>
              </a:rPr>
              <a:t>isNotHome</a:t>
            </a:r>
            <a:r>
              <a:rPr sz="1800" i="1" spc="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(Can’t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watch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when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I’m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running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errands.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Can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I?)</a:t>
            </a:r>
            <a:endParaRPr sz="1800">
              <a:latin typeface="Tahoma"/>
              <a:cs typeface="Tahoma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b="1" i="1" spc="-145" dirty="0">
                <a:solidFill>
                  <a:srgbClr val="292929"/>
                </a:solidFill>
                <a:latin typeface="Arial"/>
                <a:cs typeface="Arial"/>
              </a:rPr>
              <a:t>x4</a:t>
            </a:r>
            <a:r>
              <a:rPr sz="1800" b="1" i="1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could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i="1" spc="-114" dirty="0">
                <a:solidFill>
                  <a:srgbClr val="292929"/>
                </a:solidFill>
                <a:latin typeface="Arial"/>
                <a:cs typeface="Arial"/>
              </a:rPr>
              <a:t>isManUnitedPlaying</a:t>
            </a:r>
            <a:r>
              <a:rPr sz="1800" i="1" spc="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292929"/>
                </a:solidFill>
                <a:latin typeface="Tahoma"/>
                <a:cs typeface="Tahoma"/>
              </a:rPr>
              <a:t>(I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50" dirty="0">
                <a:solidFill>
                  <a:srgbClr val="292929"/>
                </a:solidFill>
                <a:latin typeface="Tahoma"/>
                <a:cs typeface="Tahoma"/>
              </a:rPr>
              <a:t>am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big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Man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United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fan.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GGMU!)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so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on.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747" y="4536947"/>
            <a:ext cx="2465831" cy="17541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941819" y="118871"/>
            <a:ext cx="5029200" cy="36893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936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9"/>
              </a:spcBef>
            </a:pPr>
            <a:r>
              <a:rPr sz="1800" spc="-75" dirty="0">
                <a:solidFill>
                  <a:srgbClr val="404040"/>
                </a:solidFill>
                <a:latin typeface="Tahoma"/>
                <a:cs typeface="Tahoma"/>
              </a:rPr>
              <a:t>“threshold</a:t>
            </a:r>
            <a:r>
              <a:rPr sz="1800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Tahoma"/>
                <a:cs typeface="Tahoma"/>
              </a:rPr>
              <a:t>logic”</a:t>
            </a:r>
            <a:r>
              <a:rPr sz="1800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Tahoma"/>
                <a:cs typeface="Tahoma"/>
              </a:rPr>
              <a:t>mimic</a:t>
            </a:r>
            <a:r>
              <a:rPr sz="1800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Tahoma"/>
                <a:cs typeface="Tahoma"/>
              </a:rPr>
              <a:t>thought</a:t>
            </a:r>
            <a:r>
              <a:rPr sz="1800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ahoma"/>
                <a:cs typeface="Tahoma"/>
              </a:rPr>
              <a:t>process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863" y="249123"/>
            <a:ext cx="6913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75" dirty="0">
                <a:solidFill>
                  <a:srgbClr val="C00000"/>
                </a:solidFill>
                <a:latin typeface="Arial"/>
                <a:cs typeface="Arial"/>
              </a:rPr>
              <a:t>Excitatory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80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90" dirty="0">
                <a:solidFill>
                  <a:srgbClr val="C00000"/>
                </a:solidFill>
                <a:latin typeface="Arial"/>
                <a:cs typeface="Arial"/>
              </a:rPr>
              <a:t>inhibitory</a:t>
            </a:r>
            <a:r>
              <a:rPr b="1" spc="-1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5" dirty="0">
                <a:solidFill>
                  <a:srgbClr val="C00000"/>
                </a:solidFill>
                <a:latin typeface="Arial"/>
                <a:cs typeface="Arial"/>
              </a:rPr>
              <a:t>inputs</a:t>
            </a:r>
            <a:r>
              <a:rPr spc="-315" dirty="0">
                <a:solidFill>
                  <a:srgbClr val="292929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35" y="1173124"/>
            <a:ext cx="3209577" cy="24292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87897" y="1130553"/>
            <a:ext cx="5782310" cy="30752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either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excitatory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inhibitory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Inhibitory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those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maximum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effect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decision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irrespective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i.e.,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lang="en-US" b="1" i="1" dirty="0">
                <a:solidFill>
                  <a:srgbClr val="292929"/>
                </a:solidFill>
                <a:latin typeface="Calibri"/>
                <a:cs typeface="Calibri"/>
              </a:rPr>
              <a:t>x3</a:t>
            </a:r>
            <a:r>
              <a:rPr sz="1800" b="1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(not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home)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then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always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0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i.e.,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never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fire,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lang="en-US" b="1" i="1" dirty="0">
                <a:solidFill>
                  <a:srgbClr val="292929"/>
                </a:solidFill>
                <a:latin typeface="Calibri"/>
                <a:cs typeface="Calibri"/>
              </a:rPr>
              <a:t>x3</a:t>
            </a:r>
            <a:r>
              <a:rPr sz="1800" b="1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inhibitory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  <a:p>
            <a:pPr marL="12700" marR="60960">
              <a:lnSpc>
                <a:spcPct val="100000"/>
              </a:lnSpc>
              <a:spcBef>
                <a:spcPts val="2160"/>
              </a:spcBef>
            </a:pP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Excitatory</a:t>
            </a:r>
            <a:r>
              <a:rPr sz="18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ones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neuron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their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own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combined together</a:t>
            </a:r>
            <a:endParaRPr sz="1800">
              <a:latin typeface="Calibri"/>
              <a:ea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355" y="4090779"/>
            <a:ext cx="4076107" cy="1790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06272"/>
            <a:ext cx="79032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C00000"/>
                </a:solidFill>
                <a:latin typeface="Arial"/>
                <a:cs typeface="Arial"/>
              </a:rPr>
              <a:t>mathematical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C00000"/>
                </a:solidFill>
                <a:latin typeface="Arial"/>
                <a:cs typeface="Arial"/>
              </a:rPr>
              <a:t>Model-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04" dirty="0">
                <a:solidFill>
                  <a:srgbClr val="C00000"/>
                </a:solidFill>
                <a:latin typeface="Arial"/>
                <a:cs typeface="Arial"/>
              </a:rPr>
              <a:t>McCulloch-</a:t>
            </a:r>
            <a:r>
              <a:rPr sz="2400" b="1" spc="-165" dirty="0">
                <a:solidFill>
                  <a:srgbClr val="C00000"/>
                </a:solidFill>
                <a:latin typeface="Arial"/>
                <a:cs typeface="Arial"/>
              </a:rPr>
              <a:t>Pitts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25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40" dirty="0">
                <a:solidFill>
                  <a:srgbClr val="C00000"/>
                </a:solidFill>
                <a:latin typeface="Arial"/>
                <a:cs typeface="Arial"/>
              </a:rPr>
              <a:t>(MP</a:t>
            </a:r>
            <a:r>
              <a:rPr sz="24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C00000"/>
                </a:solidFill>
                <a:latin typeface="Arial"/>
                <a:cs typeface="Arial"/>
              </a:rPr>
              <a:t>Neuron)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0744" y="3452938"/>
            <a:ext cx="3809754" cy="18134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5259" y="1341201"/>
            <a:ext cx="7696015" cy="11683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23" y="2864739"/>
            <a:ext cx="2133257" cy="25241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50004" y="2638805"/>
            <a:ext cx="462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either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excitatory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inhibitory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2299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05"/>
              </a:spcBef>
            </a:pPr>
            <a:r>
              <a:rPr b="1" spc="-380" dirty="0">
                <a:solidFill>
                  <a:srgbClr val="C00000"/>
                </a:solidFill>
                <a:latin typeface="Arial"/>
                <a:cs typeface="Arial"/>
              </a:rPr>
              <a:t>What</a:t>
            </a:r>
            <a:r>
              <a:rPr b="1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65" dirty="0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r>
              <a:rPr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09" dirty="0">
                <a:solidFill>
                  <a:srgbClr val="C00000"/>
                </a:solidFill>
                <a:latin typeface="Arial"/>
                <a:cs typeface="Arial"/>
              </a:rPr>
              <a:t>can</a:t>
            </a:r>
            <a:r>
              <a:rPr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35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95" dirty="0">
                <a:solidFill>
                  <a:srgbClr val="C00000"/>
                </a:solidFill>
                <a:latin typeface="Arial"/>
                <a:cs typeface="Arial"/>
              </a:rPr>
              <a:t>done</a:t>
            </a:r>
            <a:r>
              <a:rPr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0" dirty="0">
                <a:solidFill>
                  <a:srgbClr val="C00000"/>
                </a:solidFill>
                <a:latin typeface="Arial"/>
                <a:cs typeface="Arial"/>
              </a:rPr>
              <a:t>with</a:t>
            </a:r>
            <a:r>
              <a:rPr b="1" spc="-1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65" dirty="0">
                <a:solidFill>
                  <a:srgbClr val="C00000"/>
                </a:solidFill>
                <a:latin typeface="Arial"/>
                <a:cs typeface="Arial"/>
              </a:rPr>
              <a:t>MP</a:t>
            </a:r>
            <a:r>
              <a:rPr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15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r>
              <a:rPr lang="en-US" b="1" spc="-415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b="1" spc="-415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4456" y="1917192"/>
            <a:ext cx="2742492" cy="3352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9701" y="1765198"/>
            <a:ext cx="4637941" cy="4267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032398"/>
            <a:ext cx="4140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::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M.</a:t>
            </a:r>
            <a:r>
              <a:rPr sz="1800" spc="-4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Khapra’s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1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slides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6523" y="243520"/>
            <a:ext cx="3028950" cy="69723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C00000"/>
                </a:solidFill>
                <a:latin typeface="Calibri Light"/>
                <a:cs typeface="Calibri Light"/>
              </a:rPr>
              <a:t>Loss</a:t>
            </a:r>
            <a:r>
              <a:rPr sz="4400" spc="-20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spc="-25" dirty="0">
                <a:solidFill>
                  <a:srgbClr val="C00000"/>
                </a:solidFill>
                <a:latin typeface="Calibri Light"/>
                <a:cs typeface="Calibri Light"/>
              </a:rPr>
              <a:t>Function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612" y="1306906"/>
            <a:ext cx="5390388" cy="40096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4340" y="993557"/>
            <a:ext cx="2314575" cy="2523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9418" y="4018312"/>
            <a:ext cx="2448217" cy="409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5190" y="5299395"/>
            <a:ext cx="3409950" cy="5336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73716" y="5731454"/>
            <a:ext cx="2600672" cy="381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25927" y="4725649"/>
            <a:ext cx="2238031" cy="324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8116" y="6275759"/>
            <a:ext cx="413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::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3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M.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Khapra’s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slides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14009" y="146430"/>
            <a:ext cx="5752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aim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minimizing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loss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51532" y="477012"/>
            <a:ext cx="6842760" cy="5905500"/>
            <a:chOff x="2351532" y="477012"/>
            <a:chExt cx="6842760" cy="5905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1532" y="477012"/>
              <a:ext cx="6204657" cy="29250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27291" y="3374135"/>
              <a:ext cx="504825" cy="721360"/>
            </a:xfrm>
            <a:custGeom>
              <a:avLst/>
              <a:gdLst/>
              <a:ahLst/>
              <a:cxnLst/>
              <a:rect l="l" t="t" r="r" b="b"/>
              <a:pathLst>
                <a:path w="504825" h="721360">
                  <a:moveTo>
                    <a:pt x="378332" y="0"/>
                  </a:moveTo>
                  <a:lnTo>
                    <a:pt x="126110" y="0"/>
                  </a:lnTo>
                  <a:lnTo>
                    <a:pt x="126110" y="468630"/>
                  </a:lnTo>
                  <a:lnTo>
                    <a:pt x="0" y="468630"/>
                  </a:lnTo>
                  <a:lnTo>
                    <a:pt x="252222" y="720851"/>
                  </a:lnTo>
                  <a:lnTo>
                    <a:pt x="504443" y="468630"/>
                  </a:lnTo>
                  <a:lnTo>
                    <a:pt x="378332" y="468630"/>
                  </a:lnTo>
                  <a:lnTo>
                    <a:pt x="37833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27291" y="3374135"/>
              <a:ext cx="504825" cy="721360"/>
            </a:xfrm>
            <a:custGeom>
              <a:avLst/>
              <a:gdLst/>
              <a:ahLst/>
              <a:cxnLst/>
              <a:rect l="l" t="t" r="r" b="b"/>
              <a:pathLst>
                <a:path w="504825" h="721360">
                  <a:moveTo>
                    <a:pt x="0" y="468630"/>
                  </a:moveTo>
                  <a:lnTo>
                    <a:pt x="126110" y="468630"/>
                  </a:lnTo>
                  <a:lnTo>
                    <a:pt x="126110" y="0"/>
                  </a:lnTo>
                  <a:lnTo>
                    <a:pt x="378332" y="0"/>
                  </a:lnTo>
                  <a:lnTo>
                    <a:pt x="378332" y="468630"/>
                  </a:lnTo>
                  <a:lnTo>
                    <a:pt x="504443" y="468630"/>
                  </a:lnTo>
                  <a:lnTo>
                    <a:pt x="252222" y="720851"/>
                  </a:lnTo>
                  <a:lnTo>
                    <a:pt x="0" y="46863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70042" y="4012138"/>
              <a:ext cx="2159635" cy="937260"/>
            </a:xfrm>
            <a:custGeom>
              <a:avLst/>
              <a:gdLst/>
              <a:ahLst/>
              <a:cxnLst/>
              <a:rect l="l" t="t" r="r" b="b"/>
              <a:pathLst>
                <a:path w="2159634" h="937260">
                  <a:moveTo>
                    <a:pt x="2003298" y="0"/>
                  </a:moveTo>
                  <a:lnTo>
                    <a:pt x="156210" y="0"/>
                  </a:lnTo>
                  <a:lnTo>
                    <a:pt x="106850" y="7967"/>
                  </a:lnTo>
                  <a:lnTo>
                    <a:pt x="63971" y="30150"/>
                  </a:lnTo>
                  <a:lnTo>
                    <a:pt x="30150" y="63971"/>
                  </a:lnTo>
                  <a:lnTo>
                    <a:pt x="7967" y="106850"/>
                  </a:lnTo>
                  <a:lnTo>
                    <a:pt x="0" y="156210"/>
                  </a:lnTo>
                  <a:lnTo>
                    <a:pt x="0" y="781050"/>
                  </a:lnTo>
                  <a:lnTo>
                    <a:pt x="7967" y="830409"/>
                  </a:lnTo>
                  <a:lnTo>
                    <a:pt x="30150" y="873288"/>
                  </a:lnTo>
                  <a:lnTo>
                    <a:pt x="63971" y="907109"/>
                  </a:lnTo>
                  <a:lnTo>
                    <a:pt x="106850" y="929292"/>
                  </a:lnTo>
                  <a:lnTo>
                    <a:pt x="156210" y="937260"/>
                  </a:lnTo>
                  <a:lnTo>
                    <a:pt x="2003298" y="937260"/>
                  </a:lnTo>
                  <a:lnTo>
                    <a:pt x="2052657" y="929292"/>
                  </a:lnTo>
                  <a:lnTo>
                    <a:pt x="2095536" y="907109"/>
                  </a:lnTo>
                  <a:lnTo>
                    <a:pt x="2129357" y="873288"/>
                  </a:lnTo>
                  <a:lnTo>
                    <a:pt x="2151540" y="830409"/>
                  </a:lnTo>
                  <a:lnTo>
                    <a:pt x="2159507" y="781050"/>
                  </a:lnTo>
                  <a:lnTo>
                    <a:pt x="2159507" y="156210"/>
                  </a:lnTo>
                  <a:lnTo>
                    <a:pt x="2151540" y="106850"/>
                  </a:lnTo>
                  <a:lnTo>
                    <a:pt x="2129357" y="63971"/>
                  </a:lnTo>
                  <a:lnTo>
                    <a:pt x="2095536" y="30150"/>
                  </a:lnTo>
                  <a:lnTo>
                    <a:pt x="2052657" y="7967"/>
                  </a:lnTo>
                  <a:lnTo>
                    <a:pt x="2003298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0043" y="4051722"/>
              <a:ext cx="2209115" cy="907572"/>
            </a:xfrm>
            <a:custGeom>
              <a:avLst/>
              <a:gdLst/>
              <a:ahLst/>
              <a:cxnLst/>
              <a:rect l="l" t="t" r="r" b="b"/>
              <a:pathLst>
                <a:path w="2159634" h="937260">
                  <a:moveTo>
                    <a:pt x="0" y="156210"/>
                  </a:moveTo>
                  <a:lnTo>
                    <a:pt x="7967" y="106850"/>
                  </a:lnTo>
                  <a:lnTo>
                    <a:pt x="30150" y="63971"/>
                  </a:lnTo>
                  <a:lnTo>
                    <a:pt x="63971" y="30150"/>
                  </a:lnTo>
                  <a:lnTo>
                    <a:pt x="106850" y="7967"/>
                  </a:lnTo>
                  <a:lnTo>
                    <a:pt x="156210" y="0"/>
                  </a:lnTo>
                  <a:lnTo>
                    <a:pt x="2003298" y="0"/>
                  </a:lnTo>
                  <a:lnTo>
                    <a:pt x="2052657" y="7967"/>
                  </a:lnTo>
                  <a:lnTo>
                    <a:pt x="2095536" y="30150"/>
                  </a:lnTo>
                  <a:lnTo>
                    <a:pt x="2129357" y="63971"/>
                  </a:lnTo>
                  <a:lnTo>
                    <a:pt x="2151540" y="106850"/>
                  </a:lnTo>
                  <a:lnTo>
                    <a:pt x="2159507" y="156210"/>
                  </a:lnTo>
                  <a:lnTo>
                    <a:pt x="2159507" y="781050"/>
                  </a:lnTo>
                  <a:lnTo>
                    <a:pt x="2151540" y="830409"/>
                  </a:lnTo>
                  <a:lnTo>
                    <a:pt x="2129357" y="873288"/>
                  </a:lnTo>
                  <a:lnTo>
                    <a:pt x="2095536" y="907109"/>
                  </a:lnTo>
                  <a:lnTo>
                    <a:pt x="2052657" y="929292"/>
                  </a:lnTo>
                  <a:lnTo>
                    <a:pt x="2003298" y="937260"/>
                  </a:lnTo>
                  <a:lnTo>
                    <a:pt x="156210" y="937260"/>
                  </a:lnTo>
                  <a:lnTo>
                    <a:pt x="106850" y="929292"/>
                  </a:lnTo>
                  <a:lnTo>
                    <a:pt x="63971" y="907109"/>
                  </a:lnTo>
                  <a:lnTo>
                    <a:pt x="30150" y="873288"/>
                  </a:lnTo>
                  <a:lnTo>
                    <a:pt x="7967" y="830409"/>
                  </a:lnTo>
                  <a:lnTo>
                    <a:pt x="0" y="781050"/>
                  </a:lnTo>
                  <a:lnTo>
                    <a:pt x="0" y="15621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196" y="3374135"/>
              <a:ext cx="1828800" cy="29352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4148" y="4536947"/>
              <a:ext cx="763905" cy="378460"/>
            </a:xfrm>
            <a:custGeom>
              <a:avLst/>
              <a:gdLst/>
              <a:ahLst/>
              <a:cxnLst/>
              <a:rect l="l" t="t" r="r" b="b"/>
              <a:pathLst>
                <a:path w="763904" h="378460">
                  <a:moveTo>
                    <a:pt x="574548" y="0"/>
                  </a:moveTo>
                  <a:lnTo>
                    <a:pt x="574548" y="94487"/>
                  </a:lnTo>
                  <a:lnTo>
                    <a:pt x="0" y="94487"/>
                  </a:lnTo>
                  <a:lnTo>
                    <a:pt x="0" y="283463"/>
                  </a:lnTo>
                  <a:lnTo>
                    <a:pt x="574548" y="283463"/>
                  </a:lnTo>
                  <a:lnTo>
                    <a:pt x="574548" y="377951"/>
                  </a:lnTo>
                  <a:lnTo>
                    <a:pt x="763524" y="188975"/>
                  </a:lnTo>
                  <a:lnTo>
                    <a:pt x="574548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94148" y="4536947"/>
              <a:ext cx="763905" cy="378460"/>
            </a:xfrm>
            <a:custGeom>
              <a:avLst/>
              <a:gdLst/>
              <a:ahLst/>
              <a:cxnLst/>
              <a:rect l="l" t="t" r="r" b="b"/>
              <a:pathLst>
                <a:path w="763904" h="378460">
                  <a:moveTo>
                    <a:pt x="0" y="94487"/>
                  </a:moveTo>
                  <a:lnTo>
                    <a:pt x="574548" y="94487"/>
                  </a:lnTo>
                  <a:lnTo>
                    <a:pt x="574548" y="0"/>
                  </a:lnTo>
                  <a:lnTo>
                    <a:pt x="763524" y="188975"/>
                  </a:lnTo>
                  <a:lnTo>
                    <a:pt x="574548" y="377951"/>
                  </a:lnTo>
                  <a:lnTo>
                    <a:pt x="574548" y="283463"/>
                  </a:lnTo>
                  <a:lnTo>
                    <a:pt x="0" y="283463"/>
                  </a:lnTo>
                  <a:lnTo>
                    <a:pt x="0" y="9448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0492" y="5820156"/>
              <a:ext cx="3733800" cy="56235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36024" y="3551377"/>
            <a:ext cx="1744732" cy="181908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57721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MODEL</a:t>
            </a:r>
            <a:endParaRPr lang="en-US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800" b="1" spc="-10" dirty="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Predictions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10430" y="4954663"/>
            <a:ext cx="317293" cy="589931"/>
            <a:chOff x="6896872" y="4984351"/>
            <a:chExt cx="257917" cy="471178"/>
          </a:xfrm>
        </p:grpSpPr>
        <p:sp>
          <p:nvSpPr>
            <p:cNvPr id="14" name="object 14"/>
            <p:cNvSpPr/>
            <p:nvPr/>
          </p:nvSpPr>
          <p:spPr>
            <a:xfrm>
              <a:off x="6898724" y="4990456"/>
              <a:ext cx="254214" cy="455177"/>
            </a:xfrm>
            <a:custGeom>
              <a:avLst/>
              <a:gdLst/>
              <a:ahLst/>
              <a:cxnLst/>
              <a:rect l="l" t="t" r="r" b="b"/>
              <a:pathLst>
                <a:path w="238125" h="352425">
                  <a:moveTo>
                    <a:pt x="178307" y="0"/>
                  </a:moveTo>
                  <a:lnTo>
                    <a:pt x="59435" y="0"/>
                  </a:lnTo>
                  <a:lnTo>
                    <a:pt x="59435" y="233172"/>
                  </a:lnTo>
                  <a:lnTo>
                    <a:pt x="0" y="233172"/>
                  </a:lnTo>
                  <a:lnTo>
                    <a:pt x="118872" y="352044"/>
                  </a:lnTo>
                  <a:lnTo>
                    <a:pt x="237743" y="233172"/>
                  </a:lnTo>
                  <a:lnTo>
                    <a:pt x="178307" y="233172"/>
                  </a:lnTo>
                  <a:lnTo>
                    <a:pt x="17830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96872" y="4984351"/>
              <a:ext cx="257917" cy="471178"/>
            </a:xfrm>
            <a:custGeom>
              <a:avLst/>
              <a:gdLst/>
              <a:ahLst/>
              <a:cxnLst/>
              <a:rect l="l" t="t" r="r" b="b"/>
              <a:pathLst>
                <a:path w="238125" h="352425">
                  <a:moveTo>
                    <a:pt x="0" y="233172"/>
                  </a:moveTo>
                  <a:lnTo>
                    <a:pt x="59435" y="233172"/>
                  </a:lnTo>
                  <a:lnTo>
                    <a:pt x="59435" y="0"/>
                  </a:lnTo>
                  <a:lnTo>
                    <a:pt x="178307" y="0"/>
                  </a:lnTo>
                  <a:lnTo>
                    <a:pt x="178307" y="233172"/>
                  </a:lnTo>
                  <a:lnTo>
                    <a:pt x="237743" y="233172"/>
                  </a:lnTo>
                  <a:lnTo>
                    <a:pt x="118872" y="352044"/>
                  </a:lnTo>
                  <a:lnTo>
                    <a:pt x="0" y="23317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9843" y="5871971"/>
            <a:ext cx="124815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555" y="75387"/>
            <a:ext cx="7723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292929"/>
                </a:solidFill>
                <a:latin typeface="Calibri"/>
                <a:cs typeface="Calibri"/>
              </a:rPr>
              <a:t>Boolean</a:t>
            </a:r>
            <a:r>
              <a:rPr sz="4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4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4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4000" spc="-35" dirty="0">
                <a:solidFill>
                  <a:srgbClr val="292929"/>
                </a:solidFill>
                <a:latin typeface="Calibri"/>
                <a:cs typeface="Calibri"/>
              </a:rPr>
              <a:t>M-</a:t>
            </a:r>
            <a:r>
              <a:rPr sz="4000" dirty="0">
                <a:solidFill>
                  <a:srgbClr val="292929"/>
                </a:solidFill>
                <a:latin typeface="Calibri"/>
                <a:cs typeface="Calibri"/>
              </a:rPr>
              <a:t>P</a:t>
            </a:r>
            <a:r>
              <a:rPr sz="4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83" y="1069216"/>
            <a:ext cx="2843551" cy="1386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99890" y="601217"/>
            <a:ext cx="4806315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89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89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113" y="2524125"/>
            <a:ext cx="3030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sum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≥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theta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fire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otherwise,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won’t.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0764" y="2633853"/>
            <a:ext cx="3382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would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only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5655" y="1248668"/>
            <a:ext cx="2448546" cy="11856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9311" y="1320243"/>
            <a:ext cx="2383441" cy="115346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45932" y="2599690"/>
            <a:ext cx="409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would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i.e.,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g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(x)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≥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here.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396" y="3625596"/>
            <a:ext cx="6320332" cy="25274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14908" y="3182492"/>
            <a:ext cx="521970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8225">
              <a:lnSpc>
                <a:spcPts val="1785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i.e.,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g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(x)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≥ 3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here.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85"/>
              </a:lnSpc>
            </a:pPr>
            <a:r>
              <a:rPr sz="1800" dirty="0">
                <a:latin typeface="Calibri"/>
                <a:cs typeface="Calibri"/>
              </a:rPr>
              <a:t>Geometric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Interpretation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2970" y="3657676"/>
            <a:ext cx="5385435" cy="235077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958850" marR="5080" indent="51435">
              <a:lnSpc>
                <a:spcPct val="100000"/>
              </a:lnSpc>
              <a:spcBef>
                <a:spcPts val="100"/>
              </a:spcBef>
            </a:pPr>
            <a:r>
              <a:rPr lang="en-US" b="1" i="1" dirty="0">
                <a:solidFill>
                  <a:srgbClr val="292929"/>
                </a:solidFill>
                <a:latin typeface="Calibri"/>
                <a:cs typeface="Calibri"/>
              </a:rPr>
              <a:t>x1</a:t>
            </a:r>
            <a:r>
              <a:rPr sz="1800" b="1" i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+</a:t>
            </a:r>
            <a:r>
              <a:rPr sz="1800" b="1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lang="en-US" b="1" i="1">
                <a:solidFill>
                  <a:srgbClr val="292929"/>
                </a:solidFill>
                <a:latin typeface="Calibri"/>
                <a:cs typeface="Calibri"/>
              </a:rPr>
              <a:t>x2</a:t>
            </a:r>
            <a:r>
              <a:rPr sz="1800" b="1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=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1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graphically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 show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those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whose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passed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M-P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ABOVE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line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points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BELOW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line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going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0.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M-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neuron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just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learnt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 linear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decision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boundary!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50900"/>
            <a:ext cx="5542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95" dirty="0">
                <a:solidFill>
                  <a:srgbClr val="C00000"/>
                </a:solidFill>
                <a:latin typeface="Arial"/>
                <a:cs typeface="Arial"/>
              </a:rPr>
              <a:t>Limitations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434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114" dirty="0">
                <a:solidFill>
                  <a:srgbClr val="C00000"/>
                </a:solidFill>
                <a:latin typeface="Arial"/>
                <a:cs typeface="Arial"/>
              </a:rPr>
              <a:t>M-</a:t>
            </a:r>
            <a:r>
              <a:rPr sz="4000" b="1" spc="-43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40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80" dirty="0">
                <a:solidFill>
                  <a:srgbClr val="C00000"/>
                </a:solidFill>
                <a:latin typeface="Arial"/>
                <a:cs typeface="Arial"/>
              </a:rPr>
              <a:t>Neuron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625" y="996821"/>
            <a:ext cx="9355206" cy="222817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400" spc="-229" dirty="0">
                <a:solidFill>
                  <a:srgbClr val="292929"/>
                </a:solidFill>
                <a:latin typeface="Tahoma"/>
                <a:cs typeface="Tahoma"/>
              </a:rPr>
              <a:t>What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about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40" dirty="0">
                <a:solidFill>
                  <a:srgbClr val="292929"/>
                </a:solidFill>
                <a:latin typeface="Tahoma"/>
                <a:cs typeface="Tahoma"/>
              </a:rPr>
              <a:t>non-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boolean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90" dirty="0">
                <a:solidFill>
                  <a:srgbClr val="292929"/>
                </a:solidFill>
                <a:latin typeface="Tahoma"/>
                <a:cs typeface="Tahoma"/>
              </a:rPr>
              <a:t>(say,</a:t>
            </a:r>
            <a:r>
              <a:rPr sz="24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292929"/>
                </a:solidFill>
                <a:latin typeface="Tahoma"/>
                <a:cs typeface="Tahoma"/>
              </a:rPr>
              <a:t>real)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Tahoma"/>
                <a:cs typeface="Tahoma"/>
              </a:rPr>
              <a:t>inputs?</a:t>
            </a:r>
            <a:endParaRPr sz="2400" dirty="0">
              <a:latin typeface="Tahoma"/>
              <a:cs typeface="Tahoma"/>
            </a:endParaRPr>
          </a:p>
          <a:p>
            <a:pPr marL="1352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400" spc="-165" dirty="0">
                <a:solidFill>
                  <a:srgbClr val="292929"/>
                </a:solidFill>
                <a:latin typeface="Tahoma"/>
                <a:cs typeface="Tahoma"/>
              </a:rPr>
              <a:t>Do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00" dirty="0">
                <a:solidFill>
                  <a:srgbClr val="292929"/>
                </a:solidFill>
                <a:latin typeface="Tahoma"/>
                <a:cs typeface="Tahoma"/>
              </a:rPr>
              <a:t>we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75" dirty="0">
                <a:solidFill>
                  <a:srgbClr val="292929"/>
                </a:solidFill>
                <a:latin typeface="Tahoma"/>
                <a:cs typeface="Tahoma"/>
              </a:rPr>
              <a:t>always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70" dirty="0">
                <a:solidFill>
                  <a:srgbClr val="292929"/>
                </a:solidFill>
                <a:latin typeface="Tahoma"/>
                <a:cs typeface="Tahoma"/>
              </a:rPr>
              <a:t>need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90" dirty="0">
                <a:solidFill>
                  <a:srgbClr val="292929"/>
                </a:solidFill>
                <a:latin typeface="Tahoma"/>
                <a:cs typeface="Tahoma"/>
              </a:rPr>
              <a:t>hand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30" dirty="0">
                <a:solidFill>
                  <a:srgbClr val="292929"/>
                </a:solidFill>
                <a:latin typeface="Tahoma"/>
                <a:cs typeface="Tahoma"/>
              </a:rPr>
              <a:t>code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24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Tahoma"/>
                <a:cs typeface="Tahoma"/>
              </a:rPr>
              <a:t>threshold?</a:t>
            </a:r>
            <a:endParaRPr sz="2400" dirty="0">
              <a:latin typeface="Tahoma"/>
              <a:cs typeface="Tahoma"/>
            </a:endParaRPr>
          </a:p>
          <a:p>
            <a:pPr marL="135255" indent="-133350">
              <a:spcBef>
                <a:spcPts val="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400" spc="-140" dirty="0">
                <a:solidFill>
                  <a:srgbClr val="292929"/>
                </a:solidFill>
                <a:latin typeface="Tahoma"/>
                <a:cs typeface="Tahoma"/>
              </a:rPr>
              <a:t>Are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25" dirty="0">
                <a:solidFill>
                  <a:srgbClr val="292929"/>
                </a:solidFill>
                <a:latin typeface="Tahoma"/>
                <a:cs typeface="Tahoma"/>
              </a:rPr>
              <a:t>all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inputs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292929"/>
                </a:solidFill>
                <a:latin typeface="Tahoma"/>
                <a:cs typeface="Tahoma"/>
              </a:rPr>
              <a:t>equal?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endParaRPr lang="en-US" sz="2400">
              <a:solidFill>
                <a:srgbClr val="000000"/>
              </a:solidFill>
              <a:latin typeface="Tahoma"/>
              <a:cs typeface="Tahoma"/>
            </a:endParaRPr>
          </a:p>
          <a:p>
            <a:pPr marL="135255" indent="-133350">
              <a:spcBef>
                <a:spcPts val="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400" spc="-229" dirty="0">
                <a:solidFill>
                  <a:srgbClr val="292929"/>
                </a:solidFill>
                <a:latin typeface="Tahoma"/>
                <a:cs typeface="Tahoma"/>
              </a:rPr>
              <a:t>What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if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04" dirty="0">
                <a:solidFill>
                  <a:srgbClr val="292929"/>
                </a:solidFill>
                <a:latin typeface="Tahoma"/>
                <a:cs typeface="Tahoma"/>
              </a:rPr>
              <a:t>we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10" dirty="0">
                <a:solidFill>
                  <a:srgbClr val="292929"/>
                </a:solidFill>
                <a:latin typeface="Tahoma"/>
                <a:cs typeface="Tahoma"/>
              </a:rPr>
              <a:t>want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lang="en-US" sz="2400" spc="-160" dirty="0">
                <a:solidFill>
                  <a:srgbClr val="292929"/>
                </a:solidFill>
                <a:latin typeface="Tahoma"/>
                <a:cs typeface="Tahoma"/>
              </a:rPr>
              <a:t>to </a:t>
            </a:r>
            <a:r>
              <a:rPr lang="en-US" sz="2400" spc="-110" dirty="0">
                <a:solidFill>
                  <a:srgbClr val="292929"/>
                </a:solidFill>
                <a:latin typeface="Tahoma"/>
                <a:cs typeface="Tahoma"/>
              </a:rPr>
              <a:t>assign </a:t>
            </a:r>
            <a:r>
              <a:rPr lang="en-US" sz="2400" spc="-50" dirty="0">
                <a:solidFill>
                  <a:srgbClr val="292929"/>
                </a:solidFill>
                <a:latin typeface="Tahoma"/>
                <a:cs typeface="Tahoma"/>
              </a:rPr>
              <a:t>more importance to some inputs?</a:t>
            </a:r>
          </a:p>
          <a:p>
            <a:pPr marL="135255" indent="-133350">
              <a:spcBef>
                <a:spcPts val="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lang="en-US" sz="2400" spc="-50" dirty="0">
                <a:solidFill>
                  <a:srgbClr val="292929"/>
                </a:solidFill>
                <a:latin typeface="Tahoma"/>
                <a:ea typeface="Tahoma"/>
                <a:cs typeface="Tahoma"/>
              </a:rPr>
              <a:t>What about functions which are not linearly separable? </a:t>
            </a:r>
          </a:p>
          <a:p>
            <a:pPr marL="1905">
              <a:spcBef>
                <a:spcPts val="5"/>
              </a:spcBef>
              <a:buSzPct val="96428"/>
              <a:tabLst>
                <a:tab pos="135255" algn="l"/>
              </a:tabLst>
            </a:pPr>
            <a:r>
              <a:rPr lang="en-US" sz="2400" spc="-50" dirty="0">
                <a:solidFill>
                  <a:srgbClr val="292929"/>
                </a:solidFill>
                <a:latin typeface="Tahoma"/>
                <a:ea typeface="Tahoma"/>
                <a:cs typeface="Tahoma"/>
              </a:rPr>
              <a:t>  Say the XOR function.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200" y="3860291"/>
            <a:ext cx="10645140" cy="1514517"/>
          </a:xfrm>
          <a:prstGeom prst="rect">
            <a:avLst/>
          </a:prstGeom>
          <a:solidFill>
            <a:srgbClr val="F9D7FD"/>
          </a:solidFill>
        </p:spPr>
        <p:txBody>
          <a:bodyPr vert="horz" wrap="square" lIns="0" tIns="36830" rIns="0" bIns="0" rtlCol="0">
            <a:spAutoFit/>
          </a:bodyPr>
          <a:lstStyle/>
          <a:p>
            <a:pPr marL="91440" marR="652780">
              <a:lnSpc>
                <a:spcPct val="100000"/>
              </a:lnSpc>
              <a:spcBef>
                <a:spcPts val="290"/>
              </a:spcBef>
            </a:pPr>
            <a:r>
              <a:rPr sz="2400" spc="-155" dirty="0">
                <a:solidFill>
                  <a:srgbClr val="292929"/>
                </a:solidFill>
                <a:latin typeface="Tahoma"/>
                <a:cs typeface="Tahoma"/>
              </a:rPr>
              <a:t>Overcoming</a:t>
            </a:r>
            <a:r>
              <a:rPr sz="24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24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30" dirty="0">
                <a:solidFill>
                  <a:srgbClr val="292929"/>
                </a:solidFill>
                <a:latin typeface="Tahoma"/>
                <a:cs typeface="Tahoma"/>
              </a:rPr>
              <a:t>limitations</a:t>
            </a:r>
            <a:r>
              <a:rPr sz="24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25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24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24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92929"/>
                </a:solidFill>
                <a:latin typeface="Tahoma"/>
                <a:cs typeface="Tahoma"/>
              </a:rPr>
              <a:t>M-</a:t>
            </a:r>
            <a:r>
              <a:rPr sz="240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24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neuron,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b="1" spc="-280" dirty="0">
                <a:solidFill>
                  <a:srgbClr val="C00000"/>
                </a:solidFill>
                <a:latin typeface="Arial"/>
                <a:cs typeface="Arial"/>
              </a:rPr>
              <a:t>Frank</a:t>
            </a:r>
            <a:r>
              <a:rPr sz="24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C00000"/>
                </a:solidFill>
                <a:latin typeface="Arial"/>
                <a:cs typeface="Arial"/>
              </a:rPr>
              <a:t>Rosenblatt</a:t>
            </a:r>
            <a:r>
              <a:rPr sz="2400" spc="-235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Tahoma"/>
                <a:cs typeface="Tahoma"/>
              </a:rPr>
              <a:t>an </a:t>
            </a:r>
            <a:r>
              <a:rPr sz="2400" spc="-140" dirty="0">
                <a:solidFill>
                  <a:srgbClr val="292929"/>
                </a:solidFill>
                <a:latin typeface="Tahoma"/>
                <a:cs typeface="Tahoma"/>
              </a:rPr>
              <a:t>American</a:t>
            </a:r>
            <a:r>
              <a:rPr sz="24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292929"/>
                </a:solidFill>
                <a:latin typeface="Tahoma"/>
                <a:cs typeface="Tahoma"/>
              </a:rPr>
              <a:t>psychologist,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40" dirty="0">
                <a:solidFill>
                  <a:srgbClr val="292929"/>
                </a:solidFill>
                <a:latin typeface="Tahoma"/>
                <a:cs typeface="Tahoma"/>
              </a:rPr>
              <a:t>proposed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24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classical</a:t>
            </a:r>
            <a:r>
              <a:rPr sz="24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b="1" spc="-225" dirty="0">
                <a:solidFill>
                  <a:srgbClr val="C00000"/>
                </a:solidFill>
                <a:latin typeface="Arial"/>
                <a:cs typeface="Arial"/>
              </a:rPr>
              <a:t>perception</a:t>
            </a:r>
            <a:r>
              <a:rPr sz="24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r>
              <a:rPr sz="2400" spc="-240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24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Tahoma"/>
                <a:cs typeface="Tahoma"/>
              </a:rPr>
              <a:t>the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mighty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i="1" spc="-85" dirty="0">
                <a:solidFill>
                  <a:srgbClr val="292929"/>
                </a:solidFill>
                <a:latin typeface="Arial"/>
                <a:cs typeface="Arial"/>
              </a:rPr>
              <a:t>artificial</a:t>
            </a:r>
            <a:r>
              <a:rPr sz="2400" i="1" spc="-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400" i="1" spc="-165" dirty="0">
                <a:solidFill>
                  <a:srgbClr val="292929"/>
                </a:solidFill>
                <a:latin typeface="Arial"/>
                <a:cs typeface="Arial"/>
              </a:rPr>
              <a:t>neuron</a:t>
            </a:r>
            <a:r>
              <a:rPr sz="2400" spc="-165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292929"/>
                </a:solidFill>
                <a:latin typeface="Tahoma"/>
                <a:cs typeface="Tahoma"/>
              </a:rPr>
              <a:t>in</a:t>
            </a:r>
            <a:r>
              <a:rPr sz="2400" spc="-9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45" dirty="0">
                <a:solidFill>
                  <a:srgbClr val="292929"/>
                </a:solidFill>
                <a:latin typeface="Tahoma"/>
                <a:cs typeface="Tahoma"/>
              </a:rPr>
              <a:t>1958.</a:t>
            </a:r>
            <a:r>
              <a:rPr sz="2400" spc="-11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75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292929"/>
                </a:solidFill>
                <a:latin typeface="Tahoma"/>
                <a:cs typeface="Tahoma"/>
              </a:rPr>
              <a:t>more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292929"/>
                </a:solidFill>
                <a:latin typeface="Tahoma"/>
                <a:cs typeface="Tahoma"/>
              </a:rPr>
              <a:t>generalized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computational </a:t>
            </a:r>
            <a:r>
              <a:rPr sz="2400" spc="-150" dirty="0">
                <a:solidFill>
                  <a:srgbClr val="292929"/>
                </a:solidFill>
                <a:latin typeface="Tahoma"/>
                <a:cs typeface="Tahoma"/>
              </a:rPr>
              <a:t>model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0" dirty="0">
                <a:solidFill>
                  <a:srgbClr val="292929"/>
                </a:solidFill>
                <a:latin typeface="Tahoma"/>
                <a:cs typeface="Tahoma"/>
              </a:rPr>
              <a:t>than</a:t>
            </a:r>
            <a:r>
              <a:rPr sz="24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24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292929"/>
                </a:solidFill>
                <a:latin typeface="Tahoma"/>
                <a:cs typeface="Tahoma"/>
              </a:rPr>
              <a:t>McCulloch-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Pitts</a:t>
            </a:r>
            <a:r>
              <a:rPr sz="24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92929"/>
                </a:solidFill>
                <a:latin typeface="Tahoma"/>
                <a:cs typeface="Tahoma"/>
              </a:rPr>
              <a:t>neuron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75" dirty="0">
                <a:solidFill>
                  <a:srgbClr val="292929"/>
                </a:solidFill>
                <a:latin typeface="Tahoma"/>
                <a:cs typeface="Tahoma"/>
              </a:rPr>
              <a:t>where</a:t>
            </a:r>
            <a:r>
              <a:rPr sz="24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45" dirty="0">
                <a:solidFill>
                  <a:srgbClr val="292929"/>
                </a:solidFill>
                <a:latin typeface="Tahoma"/>
                <a:cs typeface="Tahoma"/>
              </a:rPr>
              <a:t>weights</a:t>
            </a:r>
            <a:r>
              <a:rPr sz="24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90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thresholds </a:t>
            </a:r>
            <a:r>
              <a:rPr sz="2400" spc="-145" dirty="0">
                <a:solidFill>
                  <a:srgbClr val="292929"/>
                </a:solidFill>
                <a:latin typeface="Tahoma"/>
                <a:cs typeface="Tahoma"/>
              </a:rPr>
              <a:t>can</a:t>
            </a:r>
            <a:r>
              <a:rPr sz="2400" spc="-8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75" dirty="0">
                <a:solidFill>
                  <a:srgbClr val="292929"/>
                </a:solidFill>
                <a:latin typeface="Tahoma"/>
                <a:cs typeface="Tahoma"/>
              </a:rPr>
              <a:t>be</a:t>
            </a:r>
            <a:r>
              <a:rPr sz="24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292929"/>
                </a:solidFill>
                <a:latin typeface="Tahoma"/>
                <a:cs typeface="Tahoma"/>
              </a:rPr>
              <a:t>learnt</a:t>
            </a:r>
            <a:r>
              <a:rPr sz="2400" spc="-8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292929"/>
                </a:solidFill>
                <a:latin typeface="Tahoma"/>
                <a:cs typeface="Tahoma"/>
              </a:rPr>
              <a:t>over</a:t>
            </a:r>
            <a:r>
              <a:rPr sz="24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292929"/>
                </a:solidFill>
                <a:latin typeface="Tahoma"/>
                <a:cs typeface="Tahoma"/>
              </a:rPr>
              <a:t>time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5885" y="346364"/>
            <a:ext cx="2792997" cy="23383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43490" y="2167254"/>
            <a:ext cx="1604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0" dirty="0">
                <a:solidFill>
                  <a:srgbClr val="C00000"/>
                </a:solidFill>
                <a:latin typeface="Arial"/>
                <a:cs typeface="Arial"/>
              </a:rPr>
              <a:t>Frank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C00000"/>
                </a:solidFill>
                <a:latin typeface="Arial"/>
                <a:cs typeface="Arial"/>
              </a:rPr>
              <a:t>Rosenblatt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868" y="341975"/>
            <a:ext cx="39691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38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32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i="1" spc="-315" dirty="0">
                <a:solidFill>
                  <a:srgbClr val="C00000"/>
                </a:solidFill>
                <a:latin typeface="Arial"/>
                <a:cs typeface="Arial"/>
              </a:rPr>
              <a:t>perceptron</a:t>
            </a:r>
            <a:r>
              <a:rPr sz="3200" b="1" i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-370" dirty="0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675" y="3608273"/>
            <a:ext cx="589915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C00000"/>
                </a:solidFill>
                <a:latin typeface="Tahoma"/>
                <a:cs typeface="Tahoma"/>
              </a:rPr>
              <a:t>It</a:t>
            </a:r>
            <a:r>
              <a:rPr sz="1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C00000"/>
                </a:solidFill>
                <a:latin typeface="Tahoma"/>
                <a:cs typeface="Tahoma"/>
              </a:rPr>
              <a:t>overcomes</a:t>
            </a:r>
            <a:r>
              <a:rPr sz="1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C00000"/>
                </a:solidFill>
                <a:latin typeface="Tahoma"/>
                <a:cs typeface="Tahoma"/>
              </a:rPr>
              <a:t>some</a:t>
            </a:r>
            <a:r>
              <a:rPr sz="18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18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C00000"/>
                </a:solidFill>
                <a:latin typeface="Tahoma"/>
                <a:cs typeface="Tahoma"/>
              </a:rPr>
              <a:t>the</a:t>
            </a:r>
            <a:r>
              <a:rPr sz="18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C00000"/>
                </a:solidFill>
                <a:latin typeface="Tahoma"/>
                <a:cs typeface="Tahoma"/>
              </a:rPr>
              <a:t>limitations</a:t>
            </a:r>
            <a:r>
              <a:rPr sz="1800" spc="-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1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C00000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Tahoma"/>
                <a:cs typeface="Tahoma"/>
              </a:rPr>
              <a:t>M-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18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C00000"/>
                </a:solidFill>
                <a:latin typeface="Tahoma"/>
                <a:cs typeface="Tahoma"/>
              </a:rPr>
              <a:t>neuron</a:t>
            </a:r>
            <a:r>
              <a:rPr sz="1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C00000"/>
                </a:solidFill>
                <a:latin typeface="Tahoma"/>
                <a:cs typeface="Tahoma"/>
              </a:rPr>
              <a:t>introducing</a:t>
            </a:r>
            <a:endParaRPr sz="1800">
              <a:latin typeface="Tahoma"/>
              <a:cs typeface="Tahoma"/>
            </a:endParaRPr>
          </a:p>
          <a:p>
            <a:pPr marL="299085" marR="6731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concept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numerical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weights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(a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measure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importance) 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for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inputs,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mechanism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learning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those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weights.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Inputs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are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no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longer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limited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1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boolean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values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like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in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case</a:t>
            </a:r>
            <a:endParaRPr sz="18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M-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neuron,</a:t>
            </a:r>
            <a:endParaRPr sz="1800">
              <a:latin typeface="Tahoma"/>
              <a:cs typeface="Tahoma"/>
            </a:endParaRPr>
          </a:p>
          <a:p>
            <a:pPr marL="299085" marR="3365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supports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real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inputs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as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well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which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makes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more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useful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generalized.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4449" y="159868"/>
            <a:ext cx="7292061" cy="3079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760464" y="3325367"/>
            <a:ext cx="5046345" cy="147828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70"/>
              </a:spcBef>
            </a:pP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perceptron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Model:</a:t>
            </a:r>
            <a:endParaRPr sz="1800">
              <a:latin typeface="Tahoma"/>
              <a:cs typeface="Tahoma"/>
            </a:endParaRPr>
          </a:p>
          <a:p>
            <a:pPr marL="91440" marR="457200" indent="635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very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similar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M-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P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neuron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but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we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take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a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weighted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sum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inputs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set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output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as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one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only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when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sum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more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than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an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arbitrary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threshold</a:t>
            </a:r>
            <a:r>
              <a:rPr sz="1800" spc="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(</a:t>
            </a:r>
            <a:r>
              <a:rPr sz="1800" b="1" i="1" spc="-10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).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1319" y="4977384"/>
            <a:ext cx="5392420" cy="1147750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9370" rIns="0" bIns="0" rtlCol="0" anchor="t">
            <a:spAutoFit/>
          </a:bodyPr>
          <a:lstStyle/>
          <a:p>
            <a:pPr marL="92075" marR="324485">
              <a:lnSpc>
                <a:spcPct val="100000"/>
              </a:lnSpc>
              <a:spcBef>
                <a:spcPts val="310"/>
              </a:spcBef>
            </a:pP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However,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according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to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convention,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instead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hand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coding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thresholding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parameter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i="1" spc="-120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we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add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as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one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inputs,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with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weight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1800" b="1" i="1" spc="-114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b="1" i="1" spc="1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like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shown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in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next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slide,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which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makes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lang="en-US" spc="-90" dirty="0">
                <a:solidFill>
                  <a:srgbClr val="292929"/>
                </a:solidFill>
                <a:latin typeface="Tahoma"/>
                <a:cs typeface="Tahoma"/>
              </a:rPr>
              <a:t>learn</a:t>
            </a:r>
            <a:r>
              <a:rPr lang="en-US" spc="-20" dirty="0">
                <a:solidFill>
                  <a:srgbClr val="292929"/>
                </a:solidFill>
                <a:latin typeface="Tahoma"/>
                <a:cs typeface="Tahoma"/>
              </a:rPr>
              <a:t>able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9" y="1270968"/>
            <a:ext cx="6292937" cy="24836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7982" y="328889"/>
            <a:ext cx="976122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50" dirty="0">
                <a:solidFill>
                  <a:srgbClr val="C00000"/>
                </a:solidFill>
                <a:latin typeface="+mn-lt"/>
                <a:cs typeface="Arial"/>
              </a:rPr>
              <a:t>Theta</a:t>
            </a:r>
            <a:r>
              <a:rPr sz="2400" spc="-130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395" dirty="0">
                <a:solidFill>
                  <a:srgbClr val="C00000"/>
                </a:solidFill>
                <a:latin typeface="+mn-lt"/>
                <a:cs typeface="Arial"/>
              </a:rPr>
              <a:t>add</a:t>
            </a:r>
            <a:r>
              <a:rPr sz="2400" spc="-114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405" dirty="0">
                <a:solidFill>
                  <a:srgbClr val="C00000"/>
                </a:solidFill>
                <a:latin typeface="+mn-lt"/>
                <a:cs typeface="Arial"/>
              </a:rPr>
              <a:t>as</a:t>
            </a:r>
            <a:r>
              <a:rPr sz="2400" spc="-110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395" dirty="0">
                <a:solidFill>
                  <a:srgbClr val="C00000"/>
                </a:solidFill>
                <a:latin typeface="+mn-lt"/>
                <a:cs typeface="Arial"/>
              </a:rPr>
              <a:t>one</a:t>
            </a:r>
            <a:r>
              <a:rPr sz="2400" spc="-114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360" dirty="0">
                <a:solidFill>
                  <a:srgbClr val="C00000"/>
                </a:solidFill>
                <a:latin typeface="+mn-lt"/>
                <a:cs typeface="Arial"/>
              </a:rPr>
              <a:t>of</a:t>
            </a:r>
            <a:r>
              <a:rPr sz="2400" spc="-130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290" dirty="0">
                <a:solidFill>
                  <a:srgbClr val="C00000"/>
                </a:solidFill>
                <a:latin typeface="+mn-lt"/>
                <a:cs typeface="Arial"/>
              </a:rPr>
              <a:t>the</a:t>
            </a:r>
            <a:r>
              <a:rPr sz="2400" spc="-114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300" dirty="0">
                <a:solidFill>
                  <a:srgbClr val="C00000"/>
                </a:solidFill>
                <a:latin typeface="+mn-lt"/>
                <a:cs typeface="Arial"/>
              </a:rPr>
              <a:t>inputs-</a:t>
            </a:r>
            <a:r>
              <a:rPr sz="2400" spc="-114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165" dirty="0">
                <a:solidFill>
                  <a:srgbClr val="C00000"/>
                </a:solidFill>
                <a:latin typeface="+mn-lt"/>
                <a:cs typeface="Arial"/>
              </a:rPr>
              <a:t>theta(θ)</a:t>
            </a:r>
            <a:r>
              <a:rPr sz="2400" spc="-114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sz="2400" spc="-305" dirty="0">
                <a:solidFill>
                  <a:srgbClr val="C00000"/>
                </a:solidFill>
                <a:latin typeface="+mn-lt"/>
                <a:cs typeface="Arial"/>
              </a:rPr>
              <a:t>is</a:t>
            </a:r>
            <a:r>
              <a:rPr lang="en-US" sz="2400" spc="-305" dirty="0">
                <a:solidFill>
                  <a:srgbClr val="C00000"/>
                </a:solidFill>
                <a:latin typeface="+mn-lt"/>
                <a:cs typeface="Arial"/>
              </a:rPr>
              <a:t> </a:t>
            </a:r>
            <a:r>
              <a:rPr lang="en-IN" sz="2400" spc="-434" dirty="0">
                <a:solidFill>
                  <a:srgbClr val="C00000"/>
                </a:solidFill>
                <a:latin typeface="+mn-lt"/>
                <a:cs typeface="Arial"/>
              </a:rPr>
              <a:t> b    </a:t>
            </a:r>
            <a:r>
              <a:rPr lang="en-IN" sz="2400" spc="-434" dirty="0" err="1">
                <a:solidFill>
                  <a:srgbClr val="C00000"/>
                </a:solidFill>
                <a:latin typeface="+mn-lt"/>
                <a:cs typeface="Arial"/>
              </a:rPr>
              <a:t>i</a:t>
            </a:r>
            <a:r>
              <a:rPr lang="en-IN" sz="2400" spc="-434" dirty="0">
                <a:solidFill>
                  <a:srgbClr val="C00000"/>
                </a:solidFill>
                <a:latin typeface="+mn-lt"/>
                <a:cs typeface="Arial"/>
              </a:rPr>
              <a:t>   a   s </a:t>
            </a:r>
            <a:endParaRPr sz="2400" dirty="0">
              <a:latin typeface="+mn-lt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4592" y="723711"/>
            <a:ext cx="4842675" cy="17540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7982" y="3762247"/>
            <a:ext cx="4674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spc="-120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treated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as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292929"/>
                </a:solidFill>
                <a:latin typeface="Arial"/>
                <a:cs typeface="Arial"/>
              </a:rPr>
              <a:t>bias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,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with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weight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Tahoma"/>
                <a:cs typeface="Tahoma"/>
              </a:rPr>
              <a:t>-</a:t>
            </a:r>
            <a:r>
              <a:rPr sz="1800" b="1" i="1" spc="-114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b="1" i="1" spc="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like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shown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above,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which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makes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1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learn-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able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6378" y="3745229"/>
            <a:ext cx="56362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7366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Here,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292929"/>
                </a:solidFill>
                <a:latin typeface="Arial"/>
                <a:cs typeface="Arial"/>
              </a:rPr>
              <a:t>theta(θ)</a:t>
            </a:r>
            <a:r>
              <a:rPr sz="1800" b="1" spc="-1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called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292929"/>
                </a:solidFill>
                <a:latin typeface="Arial"/>
                <a:cs typeface="Arial"/>
              </a:rPr>
              <a:t>bias</a:t>
            </a:r>
            <a:r>
              <a:rPr sz="1800" b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because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it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represents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the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prior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(prejudice).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football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freak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may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have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very</a:t>
            </a:r>
            <a:r>
              <a:rPr sz="1800" spc="-6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low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threshold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may</a:t>
            </a:r>
            <a:endParaRPr sz="18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watch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292929"/>
                </a:solidFill>
                <a:latin typeface="Tahoma"/>
                <a:cs typeface="Tahoma"/>
              </a:rPr>
              <a:t>any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football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game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irrespective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292929"/>
                </a:solidFill>
                <a:latin typeface="Tahoma"/>
                <a:cs typeface="Tahoma"/>
              </a:rPr>
              <a:t>league,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Tahoma"/>
                <a:cs typeface="Tahoma"/>
              </a:rPr>
              <a:t>club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or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2890" y="4842764"/>
            <a:ext cx="3300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importance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game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[</a:t>
            </a:r>
            <a:r>
              <a:rPr sz="1800" b="1" i="1" spc="-114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b="1" i="1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i="1" spc="-165" dirty="0">
                <a:solidFill>
                  <a:srgbClr val="292929"/>
                </a:solidFill>
                <a:latin typeface="Arial"/>
                <a:cs typeface="Arial"/>
              </a:rPr>
              <a:t>=</a:t>
            </a:r>
            <a:r>
              <a:rPr sz="1800" b="1" i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i="1" spc="-30" dirty="0">
                <a:solidFill>
                  <a:srgbClr val="292929"/>
                </a:solidFill>
                <a:latin typeface="Arial"/>
                <a:cs typeface="Arial"/>
              </a:rPr>
              <a:t>0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].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6378" y="5117083"/>
            <a:ext cx="5338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On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other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hand,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Tahoma"/>
                <a:cs typeface="Tahoma"/>
              </a:rPr>
              <a:t>selective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viewer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292929"/>
                </a:solidFill>
                <a:latin typeface="Tahoma"/>
                <a:cs typeface="Tahoma"/>
              </a:rPr>
              <a:t>may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Tahoma"/>
                <a:cs typeface="Tahoma"/>
              </a:rPr>
              <a:t>only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watch</a:t>
            </a:r>
            <a:r>
              <a:rPr sz="1800" spc="-4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2890" y="5391403"/>
            <a:ext cx="5412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football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game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that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292929"/>
                </a:solidFill>
                <a:latin typeface="Tahoma"/>
                <a:cs typeface="Tahoma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premier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league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292929"/>
                </a:solidFill>
                <a:latin typeface="Tahoma"/>
                <a:cs typeface="Tahoma"/>
              </a:rPr>
              <a:t>game,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292929"/>
                </a:solidFill>
                <a:latin typeface="Tahoma"/>
                <a:cs typeface="Tahoma"/>
              </a:rPr>
              <a:t>featuring</a:t>
            </a:r>
            <a:r>
              <a:rPr sz="1800" spc="-2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Man </a:t>
            </a:r>
            <a:r>
              <a:rPr sz="1800" spc="-95" dirty="0">
                <a:solidFill>
                  <a:srgbClr val="292929"/>
                </a:solidFill>
                <a:latin typeface="Tahoma"/>
                <a:cs typeface="Tahoma"/>
              </a:rPr>
              <a:t>United</a:t>
            </a:r>
            <a:r>
              <a:rPr sz="1800" spc="-3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292929"/>
                </a:solidFill>
                <a:latin typeface="Tahoma"/>
                <a:cs typeface="Tahoma"/>
              </a:rPr>
              <a:t>game</a:t>
            </a:r>
            <a:r>
              <a:rPr sz="1800" spc="-4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292929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92929"/>
                </a:solidFill>
                <a:latin typeface="Tahoma"/>
                <a:cs typeface="Tahoma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Tahoma"/>
                <a:cs typeface="Tahoma"/>
              </a:rPr>
              <a:t>not</a:t>
            </a:r>
            <a:r>
              <a:rPr sz="1800" spc="-50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Tahoma"/>
                <a:cs typeface="Tahoma"/>
              </a:rPr>
              <a:t>friendly</a:t>
            </a:r>
            <a:r>
              <a:rPr sz="1800" spc="-35" dirty="0">
                <a:solidFill>
                  <a:srgbClr val="292929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292929"/>
                </a:solidFill>
                <a:latin typeface="Tahoma"/>
                <a:cs typeface="Tahoma"/>
              </a:rPr>
              <a:t>[</a:t>
            </a:r>
            <a:r>
              <a:rPr sz="1800" b="1" i="1" spc="-114" dirty="0">
                <a:solidFill>
                  <a:srgbClr val="292929"/>
                </a:solidFill>
                <a:latin typeface="Arial"/>
                <a:cs typeface="Arial"/>
              </a:rPr>
              <a:t>theta</a:t>
            </a:r>
            <a:r>
              <a:rPr sz="1800" b="1" i="1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i="1" spc="-165" dirty="0">
                <a:solidFill>
                  <a:srgbClr val="292929"/>
                </a:solidFill>
                <a:latin typeface="Arial"/>
                <a:cs typeface="Arial"/>
              </a:rPr>
              <a:t>=</a:t>
            </a:r>
            <a:r>
              <a:rPr sz="1800" b="1" i="1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1800" b="1" i="1" spc="-25" dirty="0">
                <a:solidFill>
                  <a:srgbClr val="292929"/>
                </a:solidFill>
                <a:latin typeface="Arial"/>
                <a:cs typeface="Arial"/>
              </a:rPr>
              <a:t>2</a:t>
            </a:r>
            <a:r>
              <a:rPr sz="1800" spc="-25" dirty="0">
                <a:solidFill>
                  <a:srgbClr val="292929"/>
                </a:solidFill>
                <a:latin typeface="Tahoma"/>
                <a:cs typeface="Tahoma"/>
              </a:rPr>
              <a:t>].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079" y="5045964"/>
            <a:ext cx="5581015" cy="64643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48768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weights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bias</a:t>
            </a:r>
            <a:r>
              <a:rPr sz="1800" b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depend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(my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viewing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history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football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watching).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241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Perceptron-</a:t>
            </a:r>
            <a:r>
              <a:rPr b="1" spc="-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Frank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Rosenblatt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693" y="1521130"/>
            <a:ext cx="5591727" cy="32360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424418" y="986798"/>
            <a:ext cx="2223770" cy="2277110"/>
            <a:chOff x="8424418" y="986798"/>
            <a:chExt cx="2223770" cy="22771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9973" y="986798"/>
              <a:ext cx="1848200" cy="22768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418" y="2158111"/>
              <a:ext cx="871855" cy="290195"/>
            </a:xfrm>
            <a:custGeom>
              <a:avLst/>
              <a:gdLst/>
              <a:ahLst/>
              <a:cxnLst/>
              <a:rect l="l" t="t" r="r" b="b"/>
              <a:pathLst>
                <a:path w="871854" h="290194">
                  <a:moveTo>
                    <a:pt x="835177" y="28457"/>
                  </a:moveTo>
                  <a:lnTo>
                    <a:pt x="0" y="277749"/>
                  </a:lnTo>
                  <a:lnTo>
                    <a:pt x="3555" y="289940"/>
                  </a:lnTo>
                  <a:lnTo>
                    <a:pt x="838906" y="40634"/>
                  </a:lnTo>
                  <a:lnTo>
                    <a:pt x="847508" y="31453"/>
                  </a:lnTo>
                  <a:lnTo>
                    <a:pt x="835177" y="28457"/>
                  </a:lnTo>
                  <a:close/>
                </a:path>
                <a:path w="871854" h="290194">
                  <a:moveTo>
                    <a:pt x="861137" y="21716"/>
                  </a:moveTo>
                  <a:lnTo>
                    <a:pt x="857757" y="21716"/>
                  </a:lnTo>
                  <a:lnTo>
                    <a:pt x="861479" y="34036"/>
                  </a:lnTo>
                  <a:lnTo>
                    <a:pt x="861015" y="34036"/>
                  </a:lnTo>
                  <a:lnTo>
                    <a:pt x="838906" y="40634"/>
                  </a:lnTo>
                  <a:lnTo>
                    <a:pt x="794638" y="87884"/>
                  </a:lnTo>
                  <a:lnTo>
                    <a:pt x="792226" y="90424"/>
                  </a:lnTo>
                  <a:lnTo>
                    <a:pt x="792352" y="94487"/>
                  </a:lnTo>
                  <a:lnTo>
                    <a:pt x="797432" y="99313"/>
                  </a:lnTo>
                  <a:lnTo>
                    <a:pt x="801382" y="99313"/>
                  </a:lnTo>
                  <a:lnTo>
                    <a:pt x="803909" y="96519"/>
                  </a:lnTo>
                  <a:lnTo>
                    <a:pt x="871601" y="24256"/>
                  </a:lnTo>
                  <a:lnTo>
                    <a:pt x="861137" y="21716"/>
                  </a:lnTo>
                  <a:close/>
                </a:path>
                <a:path w="871854" h="290194">
                  <a:moveTo>
                    <a:pt x="847508" y="31453"/>
                  </a:moveTo>
                  <a:lnTo>
                    <a:pt x="838906" y="40634"/>
                  </a:lnTo>
                  <a:lnTo>
                    <a:pt x="861015" y="34036"/>
                  </a:lnTo>
                  <a:lnTo>
                    <a:pt x="858138" y="34036"/>
                  </a:lnTo>
                  <a:lnTo>
                    <a:pt x="847508" y="31453"/>
                  </a:lnTo>
                  <a:close/>
                </a:path>
                <a:path w="871854" h="290194">
                  <a:moveTo>
                    <a:pt x="854963" y="23494"/>
                  </a:moveTo>
                  <a:lnTo>
                    <a:pt x="847508" y="31453"/>
                  </a:lnTo>
                  <a:lnTo>
                    <a:pt x="858138" y="34036"/>
                  </a:lnTo>
                  <a:lnTo>
                    <a:pt x="854963" y="23494"/>
                  </a:lnTo>
                  <a:close/>
                </a:path>
                <a:path w="871854" h="290194">
                  <a:moveTo>
                    <a:pt x="858295" y="23494"/>
                  </a:moveTo>
                  <a:lnTo>
                    <a:pt x="854963" y="23494"/>
                  </a:lnTo>
                  <a:lnTo>
                    <a:pt x="858138" y="34036"/>
                  </a:lnTo>
                  <a:lnTo>
                    <a:pt x="861479" y="34036"/>
                  </a:lnTo>
                  <a:lnTo>
                    <a:pt x="858295" y="23494"/>
                  </a:lnTo>
                  <a:close/>
                </a:path>
                <a:path w="871854" h="290194">
                  <a:moveTo>
                    <a:pt x="857757" y="21716"/>
                  </a:moveTo>
                  <a:lnTo>
                    <a:pt x="835177" y="28457"/>
                  </a:lnTo>
                  <a:lnTo>
                    <a:pt x="847508" y="31453"/>
                  </a:lnTo>
                  <a:lnTo>
                    <a:pt x="854963" y="23494"/>
                  </a:lnTo>
                  <a:lnTo>
                    <a:pt x="858295" y="23494"/>
                  </a:lnTo>
                  <a:lnTo>
                    <a:pt x="857757" y="21716"/>
                  </a:lnTo>
                  <a:close/>
                </a:path>
                <a:path w="871854" h="290194">
                  <a:moveTo>
                    <a:pt x="771905" y="0"/>
                  </a:moveTo>
                  <a:lnTo>
                    <a:pt x="768476" y="2159"/>
                  </a:lnTo>
                  <a:lnTo>
                    <a:pt x="767714" y="5587"/>
                  </a:lnTo>
                  <a:lnTo>
                    <a:pt x="766826" y="9016"/>
                  </a:lnTo>
                  <a:lnTo>
                    <a:pt x="768984" y="12446"/>
                  </a:lnTo>
                  <a:lnTo>
                    <a:pt x="772413" y="13208"/>
                  </a:lnTo>
                  <a:lnTo>
                    <a:pt x="835177" y="28457"/>
                  </a:lnTo>
                  <a:lnTo>
                    <a:pt x="857757" y="21716"/>
                  </a:lnTo>
                  <a:lnTo>
                    <a:pt x="861137" y="21716"/>
                  </a:lnTo>
                  <a:lnTo>
                    <a:pt x="775334" y="888"/>
                  </a:lnTo>
                  <a:lnTo>
                    <a:pt x="771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8764" y="3633596"/>
            <a:ext cx="2380895" cy="6953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41285" y="4527358"/>
            <a:ext cx="4267200" cy="26653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739" y="4757165"/>
            <a:ext cx="7192645" cy="211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23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842385" algn="l"/>
              </a:tabLst>
            </a:pPr>
            <a:r>
              <a:rPr sz="2000" b="1" dirty="0">
                <a:latin typeface="Times New Roman"/>
                <a:cs typeface="Times New Roman"/>
              </a:rPr>
              <a:t>Real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Inputs</a:t>
            </a:r>
            <a:endParaRPr sz="2000">
              <a:latin typeface="Times New Roman"/>
              <a:cs typeface="Times New Roman"/>
            </a:endParaRPr>
          </a:p>
          <a:p>
            <a:pPr marL="38423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42385" algn="l"/>
              </a:tabLst>
            </a:pPr>
            <a:r>
              <a:rPr sz="2000" b="1" dirty="0">
                <a:latin typeface="Times New Roman"/>
                <a:cs typeface="Times New Roman"/>
              </a:rPr>
              <a:t>Boolean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outputs</a:t>
            </a:r>
            <a:endParaRPr sz="2000">
              <a:latin typeface="Times New Roman"/>
              <a:cs typeface="Times New Roman"/>
            </a:endParaRPr>
          </a:p>
          <a:p>
            <a:pPr marL="3842385" indent="-286385">
              <a:lnSpc>
                <a:spcPct val="100000"/>
              </a:lnSpc>
              <a:buFont typeface="Arial MT"/>
              <a:buChar char="•"/>
              <a:tabLst>
                <a:tab pos="384238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Weight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assigned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input</a:t>
            </a:r>
            <a:endParaRPr sz="2000">
              <a:latin typeface="Times New Roman"/>
              <a:cs typeface="Times New Roman"/>
            </a:endParaRPr>
          </a:p>
          <a:p>
            <a:pPr marL="3842385" indent="-286385">
              <a:lnSpc>
                <a:spcPct val="100000"/>
              </a:lnSpc>
              <a:buFont typeface="Arial MT"/>
              <a:buChar char="•"/>
              <a:tabLst>
                <a:tab pos="384238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Linear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Courtesy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::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Mitesh</a:t>
            </a:r>
            <a:r>
              <a:rPr sz="1800" spc="-3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M.</a:t>
            </a:r>
            <a:r>
              <a:rPr sz="1800" spc="-4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57575"/>
                </a:solidFill>
                <a:latin typeface="Calibri"/>
                <a:cs typeface="Calibri"/>
              </a:rPr>
              <a:t>Khapra’s</a:t>
            </a:r>
            <a:r>
              <a:rPr sz="1800" spc="-4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57575"/>
                </a:solidFill>
                <a:latin typeface="Calibri"/>
                <a:cs typeface="Calibri"/>
              </a:rPr>
              <a:t>lecture</a:t>
            </a:r>
            <a:r>
              <a:rPr sz="1800" spc="-15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57575"/>
                </a:solidFill>
                <a:latin typeface="Calibri"/>
                <a:cs typeface="Calibri"/>
              </a:rPr>
              <a:t>slides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14231" y="4963667"/>
            <a:ext cx="2753088" cy="138186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177021" y="1831594"/>
            <a:ext cx="1109345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3560">
              <a:lnSpc>
                <a:spcPts val="2105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W0=b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05"/>
              </a:lnSpc>
            </a:pPr>
            <a:r>
              <a:rPr sz="1800" spc="-20" dirty="0">
                <a:latin typeface="Calibri"/>
                <a:cs typeface="Calibri"/>
              </a:rPr>
              <a:t>X0=1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-105221"/>
            <a:ext cx="10515600" cy="1325563"/>
          </a:xfrm>
          <a:prstGeom prst="rect">
            <a:avLst/>
          </a:prstGeom>
        </p:spPr>
        <p:txBody>
          <a:bodyPr vert="horz" wrap="square" lIns="0" tIns="617728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imes New Roman"/>
                <a:cs typeface="Times New Roman"/>
              </a:rPr>
              <a:t>Geometric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Interpretation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0732" y="1546478"/>
            <a:ext cx="8797290" cy="3687445"/>
            <a:chOff x="1870732" y="1546478"/>
            <a:chExt cx="8797290" cy="36874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0732" y="1546478"/>
              <a:ext cx="4325073" cy="27336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4955" y="1574291"/>
              <a:ext cx="4543044" cy="27630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0232" y="4264152"/>
              <a:ext cx="2846831" cy="5151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1820" y="4634483"/>
              <a:ext cx="3343655" cy="59893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5918" y="4454271"/>
            <a:ext cx="2019649" cy="2857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37355" y="4969357"/>
            <a:ext cx="1981510" cy="2854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15671" y="5447919"/>
            <a:ext cx="4190274" cy="3333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078860" y="5867196"/>
            <a:ext cx="1795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Fixed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Slope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85654" y="4099686"/>
            <a:ext cx="1390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Flexible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Slope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71143" y="5188910"/>
            <a:ext cx="4837430" cy="1144905"/>
            <a:chOff x="7158228" y="5085588"/>
            <a:chExt cx="4837430" cy="114490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58228" y="5085588"/>
              <a:ext cx="2910839" cy="6797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27692" y="5629656"/>
              <a:ext cx="2267711" cy="6004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02577"/>
            <a:ext cx="10515600" cy="1325563"/>
          </a:xfrm>
          <a:prstGeom prst="rect">
            <a:avLst/>
          </a:prstGeom>
        </p:spPr>
        <p:txBody>
          <a:bodyPr vert="horz" wrap="square" lIns="0" tIns="600964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75" dirty="0"/>
              <a:t> </a:t>
            </a:r>
            <a:r>
              <a:rPr spc="-10" dirty="0"/>
              <a:t>dimensions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0565" y="2467326"/>
            <a:ext cx="4200172" cy="2180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7400" y="2255497"/>
            <a:ext cx="3648433" cy="22951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436" rIns="0" bIns="0" rtlCol="0">
            <a:spAutoFit/>
          </a:bodyPr>
          <a:lstStyle/>
          <a:p>
            <a:pPr marL="605790">
              <a:lnSpc>
                <a:spcPct val="100000"/>
              </a:lnSpc>
              <a:spcBef>
                <a:spcPts val="100"/>
              </a:spcBef>
            </a:pPr>
            <a:r>
              <a:rPr sz="3000" b="1" spc="-254" dirty="0">
                <a:solidFill>
                  <a:srgbClr val="C00000"/>
                </a:solidFill>
                <a:latin typeface="Arial"/>
                <a:cs typeface="Arial"/>
              </a:rPr>
              <a:t>Perceptron</a:t>
            </a:r>
            <a:r>
              <a:rPr sz="3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54" dirty="0">
                <a:solidFill>
                  <a:srgbClr val="C00000"/>
                </a:solidFill>
                <a:latin typeface="Arial"/>
                <a:cs typeface="Arial"/>
              </a:rPr>
              <a:t>Learning</a:t>
            </a:r>
            <a:r>
              <a:rPr sz="3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29" dirty="0">
                <a:solidFill>
                  <a:srgbClr val="C00000"/>
                </a:solidFill>
                <a:latin typeface="Arial"/>
                <a:cs typeface="Arial"/>
              </a:rPr>
              <a:t>Algorithm-</a:t>
            </a:r>
            <a:r>
              <a:rPr sz="30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10" dirty="0">
                <a:solidFill>
                  <a:srgbClr val="C00000"/>
                </a:solidFill>
                <a:latin typeface="Arial"/>
                <a:cs typeface="Arial"/>
              </a:rPr>
              <a:t>setting</a:t>
            </a:r>
            <a:r>
              <a:rPr sz="30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95" dirty="0">
                <a:solidFill>
                  <a:srgbClr val="C00000"/>
                </a:solidFill>
                <a:latin typeface="Arial"/>
                <a:cs typeface="Arial"/>
              </a:rPr>
              <a:t>up</a:t>
            </a:r>
            <a:r>
              <a:rPr sz="3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19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30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00" b="1" spc="-275" dirty="0">
                <a:solidFill>
                  <a:srgbClr val="C00000"/>
                </a:solidFill>
                <a:latin typeface="Arial"/>
                <a:cs typeface="Arial"/>
              </a:rPr>
              <a:t>problem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2988" y="1551515"/>
            <a:ext cx="7671920" cy="50636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5863" y="620268"/>
            <a:ext cx="4571646" cy="5238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340" y="1993382"/>
            <a:ext cx="3229673" cy="30666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7039" y="2165290"/>
            <a:ext cx="2980962" cy="14678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22167" y="1158366"/>
            <a:ext cx="52990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goal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w</a:t>
            </a:r>
            <a:r>
              <a:rPr sz="18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vector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perfectly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classify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positive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negative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93460" y="4521708"/>
            <a:ext cx="2734040" cy="12290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618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Times New Roman"/>
                <a:cs typeface="Times New Roman"/>
              </a:rPr>
              <a:t>Perceptron</a:t>
            </a:r>
            <a:r>
              <a:rPr b="1" spc="-1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Learning</a:t>
            </a:r>
            <a:r>
              <a:rPr b="1" spc="-27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874" y="1709640"/>
            <a:ext cx="5571495" cy="38730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556" y="1629155"/>
            <a:ext cx="3057157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648" y="3233927"/>
            <a:ext cx="2734040" cy="12276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27772" y="5282946"/>
            <a:ext cx="4387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𝒘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11693" y="4969509"/>
            <a:ext cx="66040" cy="976630"/>
          </a:xfrm>
          <a:custGeom>
            <a:avLst/>
            <a:gdLst/>
            <a:ahLst/>
            <a:cxnLst/>
            <a:rect l="l" t="t" r="r" b="b"/>
            <a:pathLst>
              <a:path w="66040" h="976629">
                <a:moveTo>
                  <a:pt x="65913" y="0"/>
                </a:moveTo>
                <a:lnTo>
                  <a:pt x="0" y="0"/>
                </a:lnTo>
                <a:lnTo>
                  <a:pt x="0" y="12700"/>
                </a:lnTo>
                <a:lnTo>
                  <a:pt x="41402" y="12700"/>
                </a:lnTo>
                <a:lnTo>
                  <a:pt x="41402" y="963930"/>
                </a:lnTo>
                <a:lnTo>
                  <a:pt x="0" y="963930"/>
                </a:lnTo>
                <a:lnTo>
                  <a:pt x="0" y="976630"/>
                </a:lnTo>
                <a:lnTo>
                  <a:pt x="65913" y="976630"/>
                </a:lnTo>
                <a:lnTo>
                  <a:pt x="65913" y="963930"/>
                </a:lnTo>
                <a:lnTo>
                  <a:pt x="65913" y="12700"/>
                </a:lnTo>
                <a:lnTo>
                  <a:pt x="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43520" y="4969509"/>
            <a:ext cx="66040" cy="976630"/>
          </a:xfrm>
          <a:custGeom>
            <a:avLst/>
            <a:gdLst/>
            <a:ahLst/>
            <a:cxnLst/>
            <a:rect l="l" t="t" r="r" b="b"/>
            <a:pathLst>
              <a:path w="66040" h="976629">
                <a:moveTo>
                  <a:pt x="65913" y="0"/>
                </a:moveTo>
                <a:lnTo>
                  <a:pt x="0" y="0"/>
                </a:lnTo>
                <a:lnTo>
                  <a:pt x="0" y="12700"/>
                </a:lnTo>
                <a:lnTo>
                  <a:pt x="0" y="963930"/>
                </a:lnTo>
                <a:lnTo>
                  <a:pt x="0" y="976630"/>
                </a:lnTo>
                <a:lnTo>
                  <a:pt x="65913" y="976630"/>
                </a:lnTo>
                <a:lnTo>
                  <a:pt x="65913" y="963930"/>
                </a:lnTo>
                <a:lnTo>
                  <a:pt x="24638" y="963930"/>
                </a:lnTo>
                <a:lnTo>
                  <a:pt x="24638" y="12700"/>
                </a:lnTo>
                <a:lnTo>
                  <a:pt x="65913" y="12700"/>
                </a:lnTo>
                <a:lnTo>
                  <a:pt x="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76920" y="4860797"/>
            <a:ext cx="35941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ts val="215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55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0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4586" y="5225288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1032" y="4980939"/>
            <a:ext cx="63500" cy="838200"/>
          </a:xfrm>
          <a:custGeom>
            <a:avLst/>
            <a:gdLst/>
            <a:ahLst/>
            <a:cxnLst/>
            <a:rect l="l" t="t" r="r" b="b"/>
            <a:pathLst>
              <a:path w="63500" h="838200">
                <a:moveTo>
                  <a:pt x="62992" y="0"/>
                </a:moveTo>
                <a:lnTo>
                  <a:pt x="0" y="0"/>
                </a:lnTo>
                <a:lnTo>
                  <a:pt x="0" y="11430"/>
                </a:lnTo>
                <a:lnTo>
                  <a:pt x="39751" y="11430"/>
                </a:lnTo>
                <a:lnTo>
                  <a:pt x="39751" y="826770"/>
                </a:lnTo>
                <a:lnTo>
                  <a:pt x="0" y="826770"/>
                </a:lnTo>
                <a:lnTo>
                  <a:pt x="0" y="838200"/>
                </a:lnTo>
                <a:lnTo>
                  <a:pt x="62992" y="838200"/>
                </a:lnTo>
                <a:lnTo>
                  <a:pt x="62992" y="826770"/>
                </a:lnTo>
                <a:lnTo>
                  <a:pt x="62992" y="11430"/>
                </a:lnTo>
                <a:lnTo>
                  <a:pt x="629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81312" y="4980939"/>
            <a:ext cx="63500" cy="838200"/>
          </a:xfrm>
          <a:custGeom>
            <a:avLst/>
            <a:gdLst/>
            <a:ahLst/>
            <a:cxnLst/>
            <a:rect l="l" t="t" r="r" b="b"/>
            <a:pathLst>
              <a:path w="63500" h="838200">
                <a:moveTo>
                  <a:pt x="62992" y="0"/>
                </a:moveTo>
                <a:lnTo>
                  <a:pt x="0" y="0"/>
                </a:lnTo>
                <a:lnTo>
                  <a:pt x="0" y="11430"/>
                </a:lnTo>
                <a:lnTo>
                  <a:pt x="0" y="826770"/>
                </a:lnTo>
                <a:lnTo>
                  <a:pt x="0" y="838200"/>
                </a:lnTo>
                <a:lnTo>
                  <a:pt x="62992" y="838200"/>
                </a:lnTo>
                <a:lnTo>
                  <a:pt x="62992" y="826770"/>
                </a:lnTo>
                <a:lnTo>
                  <a:pt x="23241" y="826770"/>
                </a:lnTo>
                <a:lnTo>
                  <a:pt x="23241" y="11430"/>
                </a:lnTo>
                <a:lnTo>
                  <a:pt x="62992" y="11430"/>
                </a:lnTo>
                <a:lnTo>
                  <a:pt x="629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511918" y="4844288"/>
            <a:ext cx="29400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198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1800"/>
              </a:lnSpc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1980"/>
              </a:lnSpc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  <a:p>
            <a:pPr marL="86995">
              <a:lnSpc>
                <a:spcPct val="100000"/>
              </a:lnSpc>
              <a:spcBef>
                <a:spcPts val="45"/>
              </a:spcBef>
            </a:pPr>
            <a:r>
              <a:rPr sz="1800" spc="-50" dirty="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5273" y="1297812"/>
            <a:ext cx="407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P-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Negative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847" y="1490057"/>
            <a:ext cx="5571495" cy="38730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728" rIns="0" bIns="0" rtlCol="0">
            <a:spAutoFit/>
          </a:bodyPr>
          <a:lstStyle/>
          <a:p>
            <a:pPr marL="758190">
              <a:lnSpc>
                <a:spcPts val="5240"/>
              </a:lnSpc>
              <a:spcBef>
                <a:spcPts val="105"/>
              </a:spcBef>
            </a:pPr>
            <a:r>
              <a:rPr b="1" dirty="0">
                <a:latin typeface="Times New Roman"/>
                <a:cs typeface="Times New Roman"/>
              </a:rPr>
              <a:t>Perceptron</a:t>
            </a:r>
            <a:r>
              <a:rPr b="1" spc="-1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Learning</a:t>
            </a:r>
            <a:r>
              <a:rPr b="1" spc="-27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Algorithm</a:t>
            </a:r>
          </a:p>
          <a:p>
            <a:pPr marL="6951980">
              <a:lnSpc>
                <a:spcPts val="2120"/>
              </a:lnSpc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P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)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both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positive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negative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examples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556" y="1629155"/>
            <a:ext cx="3057157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648" y="3233927"/>
            <a:ext cx="2734040" cy="12276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27772" y="5282946"/>
            <a:ext cx="4387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𝒘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11693" y="4969509"/>
            <a:ext cx="66040" cy="976630"/>
          </a:xfrm>
          <a:custGeom>
            <a:avLst/>
            <a:gdLst/>
            <a:ahLst/>
            <a:cxnLst/>
            <a:rect l="l" t="t" r="r" b="b"/>
            <a:pathLst>
              <a:path w="66040" h="976629">
                <a:moveTo>
                  <a:pt x="65913" y="0"/>
                </a:moveTo>
                <a:lnTo>
                  <a:pt x="0" y="0"/>
                </a:lnTo>
                <a:lnTo>
                  <a:pt x="0" y="12700"/>
                </a:lnTo>
                <a:lnTo>
                  <a:pt x="41402" y="12700"/>
                </a:lnTo>
                <a:lnTo>
                  <a:pt x="41402" y="963930"/>
                </a:lnTo>
                <a:lnTo>
                  <a:pt x="0" y="963930"/>
                </a:lnTo>
                <a:lnTo>
                  <a:pt x="0" y="976630"/>
                </a:lnTo>
                <a:lnTo>
                  <a:pt x="65913" y="976630"/>
                </a:lnTo>
                <a:lnTo>
                  <a:pt x="65913" y="963930"/>
                </a:lnTo>
                <a:lnTo>
                  <a:pt x="65913" y="12700"/>
                </a:lnTo>
                <a:lnTo>
                  <a:pt x="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43520" y="4969509"/>
            <a:ext cx="66040" cy="976630"/>
          </a:xfrm>
          <a:custGeom>
            <a:avLst/>
            <a:gdLst/>
            <a:ahLst/>
            <a:cxnLst/>
            <a:rect l="l" t="t" r="r" b="b"/>
            <a:pathLst>
              <a:path w="66040" h="976629">
                <a:moveTo>
                  <a:pt x="65913" y="0"/>
                </a:moveTo>
                <a:lnTo>
                  <a:pt x="0" y="0"/>
                </a:lnTo>
                <a:lnTo>
                  <a:pt x="0" y="12700"/>
                </a:lnTo>
                <a:lnTo>
                  <a:pt x="0" y="963930"/>
                </a:lnTo>
                <a:lnTo>
                  <a:pt x="0" y="976630"/>
                </a:lnTo>
                <a:lnTo>
                  <a:pt x="65913" y="976630"/>
                </a:lnTo>
                <a:lnTo>
                  <a:pt x="65913" y="963930"/>
                </a:lnTo>
                <a:lnTo>
                  <a:pt x="24638" y="963930"/>
                </a:lnTo>
                <a:lnTo>
                  <a:pt x="24638" y="12700"/>
                </a:lnTo>
                <a:lnTo>
                  <a:pt x="65913" y="12700"/>
                </a:lnTo>
                <a:lnTo>
                  <a:pt x="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76920" y="4860797"/>
            <a:ext cx="35941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lnSpc>
                <a:spcPts val="215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2155"/>
              </a:lnSpc>
            </a:pPr>
            <a:r>
              <a:rPr sz="1800" spc="-25" dirty="0">
                <a:latin typeface="Cambria Math"/>
                <a:cs typeface="Cambria Math"/>
              </a:rPr>
              <a:t>𝑊</a:t>
            </a:r>
            <a:r>
              <a:rPr sz="1950" spc="-37" baseline="-14957" dirty="0">
                <a:latin typeface="Cambria Math"/>
                <a:cs typeface="Cambria Math"/>
              </a:rPr>
              <a:t>0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4586" y="5225288"/>
            <a:ext cx="39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1032" y="4980939"/>
            <a:ext cx="63500" cy="838200"/>
          </a:xfrm>
          <a:custGeom>
            <a:avLst/>
            <a:gdLst/>
            <a:ahLst/>
            <a:cxnLst/>
            <a:rect l="l" t="t" r="r" b="b"/>
            <a:pathLst>
              <a:path w="63500" h="838200">
                <a:moveTo>
                  <a:pt x="62992" y="0"/>
                </a:moveTo>
                <a:lnTo>
                  <a:pt x="0" y="0"/>
                </a:lnTo>
                <a:lnTo>
                  <a:pt x="0" y="11430"/>
                </a:lnTo>
                <a:lnTo>
                  <a:pt x="39751" y="11430"/>
                </a:lnTo>
                <a:lnTo>
                  <a:pt x="39751" y="826770"/>
                </a:lnTo>
                <a:lnTo>
                  <a:pt x="0" y="826770"/>
                </a:lnTo>
                <a:lnTo>
                  <a:pt x="0" y="838200"/>
                </a:lnTo>
                <a:lnTo>
                  <a:pt x="62992" y="838200"/>
                </a:lnTo>
                <a:lnTo>
                  <a:pt x="62992" y="826770"/>
                </a:lnTo>
                <a:lnTo>
                  <a:pt x="62992" y="11430"/>
                </a:lnTo>
                <a:lnTo>
                  <a:pt x="629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81312" y="4980939"/>
            <a:ext cx="63500" cy="838200"/>
          </a:xfrm>
          <a:custGeom>
            <a:avLst/>
            <a:gdLst/>
            <a:ahLst/>
            <a:cxnLst/>
            <a:rect l="l" t="t" r="r" b="b"/>
            <a:pathLst>
              <a:path w="63500" h="838200">
                <a:moveTo>
                  <a:pt x="62992" y="0"/>
                </a:moveTo>
                <a:lnTo>
                  <a:pt x="0" y="0"/>
                </a:lnTo>
                <a:lnTo>
                  <a:pt x="0" y="11430"/>
                </a:lnTo>
                <a:lnTo>
                  <a:pt x="0" y="826770"/>
                </a:lnTo>
                <a:lnTo>
                  <a:pt x="0" y="838200"/>
                </a:lnTo>
                <a:lnTo>
                  <a:pt x="62992" y="838200"/>
                </a:lnTo>
                <a:lnTo>
                  <a:pt x="62992" y="826770"/>
                </a:lnTo>
                <a:lnTo>
                  <a:pt x="23241" y="826770"/>
                </a:lnTo>
                <a:lnTo>
                  <a:pt x="23241" y="11430"/>
                </a:lnTo>
                <a:lnTo>
                  <a:pt x="62992" y="11430"/>
                </a:lnTo>
                <a:lnTo>
                  <a:pt x="629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511918" y="4844288"/>
            <a:ext cx="29400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ts val="198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1800"/>
              </a:lnSpc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ts val="1980"/>
              </a:lnSpc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  <a:p>
            <a:pPr marL="86995">
              <a:lnSpc>
                <a:spcPct val="100000"/>
              </a:lnSpc>
              <a:spcBef>
                <a:spcPts val="45"/>
              </a:spcBef>
            </a:pPr>
            <a:r>
              <a:rPr sz="1800" spc="-50" dirty="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7548" y="5816600"/>
            <a:ext cx="5224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Case</a:t>
            </a:r>
            <a:r>
              <a:rPr sz="18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belongs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P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product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w.x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&lt;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Case</a:t>
            </a:r>
            <a:r>
              <a:rPr sz="18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8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belongs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product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w.x</a:t>
            </a:r>
            <a:r>
              <a:rPr sz="1800" b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≥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6" y="4530852"/>
            <a:ext cx="5335524" cy="18592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6308" y="602056"/>
            <a:ext cx="268414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Procedures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C00000"/>
                </a:solidFill>
                <a:latin typeface="Arial"/>
                <a:cs typeface="Arial"/>
              </a:rPr>
              <a:t>Single-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Perceptron</a:t>
            </a:r>
            <a:r>
              <a:rPr sz="1800" b="1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9979" y="257556"/>
            <a:ext cx="8334756" cy="41620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25" dirty="0">
                <a:solidFill>
                  <a:srgbClr val="C00000"/>
                </a:solidFill>
                <a:latin typeface="Arial"/>
                <a:cs typeface="Arial"/>
              </a:rPr>
              <a:t>Step</a:t>
            </a:r>
            <a:r>
              <a:rPr sz="2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2800" b="1" spc="-240" dirty="0">
                <a:solidFill>
                  <a:srgbClr val="C00000"/>
                </a:solidFill>
                <a:latin typeface="Arial"/>
                <a:cs typeface="Arial"/>
              </a:rPr>
              <a:t>Activation</a:t>
            </a:r>
            <a:r>
              <a:rPr sz="2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80" dirty="0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endParaRPr sz="2800">
              <a:latin typeface="Arial"/>
              <a:cs typeface="Arial"/>
            </a:endParaRPr>
          </a:p>
          <a:p>
            <a:pPr marL="2868930">
              <a:lnSpc>
                <a:spcPct val="100000"/>
              </a:lnSpc>
              <a:spcBef>
                <a:spcPts val="1635"/>
              </a:spcBef>
            </a:pPr>
            <a:r>
              <a:rPr sz="1800" spc="-10" dirty="0">
                <a:latin typeface="Calibri"/>
                <a:cs typeface="Calibri"/>
              </a:rPr>
              <a:t>Courtesy: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towardsdatascience.com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464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0693" y="735975"/>
            <a:ext cx="3341112" cy="53310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5355" y="-289314"/>
            <a:ext cx="5264785" cy="1288415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spc="-295" dirty="0"/>
              <a:t>Limitations</a:t>
            </a:r>
            <a:r>
              <a:rPr spc="-85" dirty="0"/>
              <a:t> </a:t>
            </a:r>
            <a:r>
              <a:rPr spc="-345" dirty="0"/>
              <a:t>of</a:t>
            </a:r>
            <a:r>
              <a:rPr spc="-95" dirty="0"/>
              <a:t> </a:t>
            </a:r>
            <a:r>
              <a:rPr spc="-350" dirty="0"/>
              <a:t>Perceptron</a:t>
            </a:r>
          </a:p>
          <a:p>
            <a:pPr marL="1532255">
              <a:lnSpc>
                <a:spcPct val="100000"/>
              </a:lnSpc>
              <a:spcBef>
                <a:spcPts val="925"/>
              </a:spcBef>
            </a:pPr>
            <a:r>
              <a:rPr sz="1800" spc="-25" dirty="0">
                <a:latin typeface="Calibri"/>
                <a:cs typeface="Calibri"/>
              </a:rPr>
              <a:t>1D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45068" y="1050036"/>
            <a:ext cx="3647440" cy="5120005"/>
            <a:chOff x="8545068" y="1050036"/>
            <a:chExt cx="3647440" cy="51200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0138" y="3520440"/>
              <a:ext cx="3331862" cy="26490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5068" y="1050036"/>
              <a:ext cx="3646931" cy="2552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956675" y="359790"/>
            <a:ext cx="2880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10" dirty="0">
                <a:solidFill>
                  <a:srgbClr val="C00000"/>
                </a:solidFill>
                <a:latin typeface="Arial"/>
                <a:cs typeface="Arial"/>
              </a:rPr>
              <a:t>How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about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these?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Non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C00000"/>
                </a:solidFill>
                <a:latin typeface="Arial"/>
                <a:cs typeface="Arial"/>
              </a:rPr>
              <a:t>linearly </a:t>
            </a:r>
            <a:r>
              <a:rPr sz="1800" b="1" spc="-135" dirty="0">
                <a:solidFill>
                  <a:srgbClr val="C00000"/>
                </a:solidFill>
                <a:latin typeface="Arial"/>
                <a:cs typeface="Arial"/>
              </a:rPr>
              <a:t>separable</a:t>
            </a:r>
            <a:r>
              <a:rPr sz="1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data?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9801" y="605790"/>
            <a:ext cx="285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2D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Picture 9" descr="A graph of salary and salary&#10;&#10;AI-generated content may be incorrect.">
            <a:extLst>
              <a:ext uri="{FF2B5EF4-FFF2-40B4-BE49-F238E27FC236}">
                <a16:creationId xmlns:a16="http://schemas.microsoft.com/office/drawing/2014/main" id="{736F982B-2189-088E-9D7B-E787EE2B1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54" y="1367299"/>
            <a:ext cx="3806437" cy="470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94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87807"/>
            <a:ext cx="9267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80" dirty="0"/>
              <a:t>XOR</a:t>
            </a:r>
            <a:r>
              <a:rPr sz="3200" spc="-65" dirty="0"/>
              <a:t> </a:t>
            </a:r>
            <a:r>
              <a:rPr sz="3200" spc="-295" dirty="0"/>
              <a:t>Function</a:t>
            </a:r>
            <a:r>
              <a:rPr sz="3200" spc="-100" dirty="0"/>
              <a:t> </a:t>
            </a:r>
            <a:r>
              <a:rPr sz="3200" spc="-480" dirty="0"/>
              <a:t>—</a:t>
            </a:r>
            <a:r>
              <a:rPr sz="3200" spc="-55" dirty="0"/>
              <a:t> </a:t>
            </a:r>
            <a:r>
              <a:rPr sz="3200" spc="-254" dirty="0"/>
              <a:t>Can’t</a:t>
            </a:r>
            <a:r>
              <a:rPr sz="3200" spc="-80" dirty="0"/>
              <a:t> </a:t>
            </a:r>
            <a:r>
              <a:rPr sz="3200" spc="-180" dirty="0"/>
              <a:t>Do!-</a:t>
            </a:r>
            <a:r>
              <a:rPr sz="3200" spc="-80" dirty="0"/>
              <a:t> </a:t>
            </a:r>
            <a:r>
              <a:rPr sz="3200" spc="-335" dirty="0"/>
              <a:t>Non</a:t>
            </a:r>
            <a:r>
              <a:rPr sz="3200" spc="-85" dirty="0"/>
              <a:t> </a:t>
            </a:r>
            <a:r>
              <a:rPr sz="3200" spc="-229" dirty="0"/>
              <a:t>Linearly</a:t>
            </a:r>
            <a:r>
              <a:rPr sz="3200" spc="-95" dirty="0"/>
              <a:t> </a:t>
            </a:r>
            <a:r>
              <a:rPr sz="3200" spc="-250" dirty="0"/>
              <a:t>separated</a:t>
            </a:r>
            <a:r>
              <a:rPr sz="3200" spc="-90" dirty="0"/>
              <a:t> </a:t>
            </a:r>
            <a:r>
              <a:rPr sz="3200" spc="-95" dirty="0"/>
              <a:t>data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102" y="1115949"/>
            <a:ext cx="7639399" cy="29146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29129" y="4933264"/>
            <a:ext cx="90074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Notice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fourth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contradicts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second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third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equation.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  <a:p>
            <a:pPr marL="12700" marR="11938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perceptron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linearly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separated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take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away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perceptron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cannot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learn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separate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non-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linear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nature.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87657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1480</Words>
  <Application>Microsoft Office PowerPoint</Application>
  <PresentationFormat>Widescreen</PresentationFormat>
  <Paragraphs>175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Aptos</vt:lpstr>
      <vt:lpstr>Arial</vt:lpstr>
      <vt:lpstr>Arial MT</vt:lpstr>
      <vt:lpstr>Calibri</vt:lpstr>
      <vt:lpstr>Calibri Light</vt:lpstr>
      <vt:lpstr>Cambria Math</vt:lpstr>
      <vt:lpstr>Georgia</vt:lpstr>
      <vt:lpstr>Tahoma</vt:lpstr>
      <vt:lpstr>Times New Roman</vt:lpstr>
      <vt:lpstr>1_Office Theme</vt:lpstr>
      <vt:lpstr>Office Theme</vt:lpstr>
      <vt:lpstr>PowerPoint Presentation</vt:lpstr>
      <vt:lpstr> MP Neuron  &amp; Perceptron</vt:lpstr>
      <vt:lpstr>Takes an input, processes it, throws out an output.</vt:lpstr>
      <vt:lpstr>Biological Neuron</vt:lpstr>
      <vt:lpstr>Neurons are arranged in a hierarchical fashion</vt:lpstr>
      <vt:lpstr>   The very first step towards the perceptron we use today was taken in 1943 by McCulloch and Pitts, by mimicking the functionality of a biological neuron.</vt:lpstr>
      <vt:lpstr>Artificial Neuron</vt:lpstr>
      <vt:lpstr>Artificial Neuron</vt:lpstr>
      <vt:lpstr>Excitatory or inhibitory inputs.</vt:lpstr>
      <vt:lpstr>PowerPoint Presentation</vt:lpstr>
      <vt:lpstr>What task can be done with MP Neuron?</vt:lpstr>
      <vt:lpstr>We aim at minimizing the loss function</vt:lpstr>
      <vt:lpstr>PowerPoint Presentation</vt:lpstr>
      <vt:lpstr>Boolean Functions Using M-P Neuron</vt:lpstr>
      <vt:lpstr>Limitations Of M-P Neuron</vt:lpstr>
      <vt:lpstr>The perceptron model</vt:lpstr>
      <vt:lpstr>Theta add as one of the inputs- theta(θ) is  b    i   a   s </vt:lpstr>
      <vt:lpstr>Perceptron- Frank Rosenblatt</vt:lpstr>
      <vt:lpstr>Geometric Interpretation</vt:lpstr>
      <vt:lpstr>More dimensions</vt:lpstr>
      <vt:lpstr>Perceptron Learning Algorithm- setting up the problem</vt:lpstr>
      <vt:lpstr>PowerPoint Presentation</vt:lpstr>
      <vt:lpstr>Perceptron Learning Algorithm</vt:lpstr>
      <vt:lpstr>Perceptron Learning Algorithm (P U N) both positive and negative examples</vt:lpstr>
      <vt:lpstr>PowerPoint Presentation</vt:lpstr>
      <vt:lpstr>Limitations of Perceptron 1D</vt:lpstr>
      <vt:lpstr>XOR Function — Can’t Do!- Non Linearly separated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saraths</dc:creator>
  <cp:lastModifiedBy>Anjali T</cp:lastModifiedBy>
  <cp:revision>345</cp:revision>
  <dcterms:created xsi:type="dcterms:W3CDTF">2024-04-16T05:05:28Z</dcterms:created>
  <dcterms:modified xsi:type="dcterms:W3CDTF">2026-01-18T06:25:54Z</dcterms:modified>
</cp:coreProperties>
</file>